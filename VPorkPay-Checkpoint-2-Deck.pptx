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050731b5474df1" /><Relationship Type="http://schemas.openxmlformats.org/officeDocument/2006/relationships/extended-properties" Target="/docProps/app.xml" Id="R2a89b8c902e14df0" /><Relationship Type="http://schemas.openxmlformats.org/officeDocument/2006/relationships/officeDocument" Target="/ppt/presentation.xml" Id="Rd157b9a0720140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2dc7e33c1744b2"/>
  </p:sldMasterIdLst>
  <p:notesMasterIdLst>
    <p:notesMasterId xmlns:r="http://schemas.openxmlformats.org/officeDocument/2006/relationships" r:id="Rd8b6a503d8d04bca"/>
  </p:notesMasterIdLst>
  <p:sldIdLst>
    <p:sldId xmlns:r="http://schemas.openxmlformats.org/officeDocument/2006/relationships" id="256" r:id="R8d3b96a4d8784124"/>
    <p:sldId xmlns:r="http://schemas.openxmlformats.org/officeDocument/2006/relationships" id="257" r:id="R9a78c20eab0b44f6"/>
    <p:sldId xmlns:r="http://schemas.openxmlformats.org/officeDocument/2006/relationships" id="258" r:id="R30d7fe302fcd452a"/>
    <p:sldId xmlns:r="http://schemas.openxmlformats.org/officeDocument/2006/relationships" id="259" r:id="Rf1fdbe1ae5414781"/>
    <p:sldId xmlns:r="http://schemas.openxmlformats.org/officeDocument/2006/relationships" id="260" r:id="R8c79e9adb70445e8"/>
    <p:sldId xmlns:r="http://schemas.openxmlformats.org/officeDocument/2006/relationships" id="261" r:id="R925df38694bc4f58"/>
    <p:sldId xmlns:r="http://schemas.openxmlformats.org/officeDocument/2006/relationships" id="262" r:id="R6af1d720ef124608"/>
    <p:sldId xmlns:r="http://schemas.openxmlformats.org/officeDocument/2006/relationships" id="263" r:id="R2a53c0b674fd4d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207e00f834481b" /><Relationship Type="http://schemas.openxmlformats.org/officeDocument/2006/relationships/slideMaster" Target="/ppt/slideMasters/slideMaster1.xml" Id="Re62dc7e33c1744b2" /><Relationship Type="http://schemas.openxmlformats.org/officeDocument/2006/relationships/notesMaster" Target="/ppt/notesMasters/notesMaster1.xml" Id="Rd8b6a503d8d04bca" /><Relationship Type="http://schemas.openxmlformats.org/officeDocument/2006/relationships/presProps" Target="/ppt/presProps.xml" Id="R63aa59d5663b437a" /><Relationship Type="http://schemas.openxmlformats.org/officeDocument/2006/relationships/tableStyles" Target="/ppt/tableStyles.xml" Id="R6425b488fb75458d" /><Relationship Type="http://schemas.openxmlformats.org/officeDocument/2006/relationships/slide" Target="/ppt/slides/slide1.xml" Id="R8d3b96a4d8784124" /><Relationship Type="http://schemas.openxmlformats.org/officeDocument/2006/relationships/slide" Target="/ppt/slides/slide2.xml" Id="R9a78c20eab0b44f6" /><Relationship Type="http://schemas.openxmlformats.org/officeDocument/2006/relationships/slide" Target="/ppt/slides/slide3.xml" Id="R30d7fe302fcd452a" /><Relationship Type="http://schemas.openxmlformats.org/officeDocument/2006/relationships/slide" Target="/ppt/slides/slide4.xml" Id="Rf1fdbe1ae5414781" /><Relationship Type="http://schemas.openxmlformats.org/officeDocument/2006/relationships/slide" Target="/ppt/slides/slide5.xml" Id="R8c79e9adb70445e8" /><Relationship Type="http://schemas.openxmlformats.org/officeDocument/2006/relationships/slide" Target="/ppt/slides/slide6.xml" Id="R925df38694bc4f58" /><Relationship Type="http://schemas.openxmlformats.org/officeDocument/2006/relationships/slide" Target="/ppt/slides/slide7.xml" Id="R6af1d720ef124608" /><Relationship Type="http://schemas.openxmlformats.org/officeDocument/2006/relationships/slide" Target="/ppt/slides/slide8.xml" Id="R2a53c0b674fd4d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dd5cbe0ffd44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VPorkPay">
      <a:dk1>
        <a:srgbClr val="000000"/>
      </a:dk1>
      <a:lt1>
        <a:srgbClr val="FFFFFF"/>
      </a:lt1>
      <a:dk2>
        <a:srgbClr val="171712"/>
      </a:dk2>
      <a:lt2>
        <a:srgbClr val="DAD6CC"/>
      </a:lt2>
      <a:accent1>
        <a:srgbClr val="DC624C"/>
      </a:accent1>
      <a:accent2>
        <a:srgbClr val="24493B"/>
      </a:accent2>
      <a:accent3>
        <a:srgbClr val="DCEB7B"/>
      </a:accent3>
      <a:accent4>
        <a:srgbClr val="F1B7AA"/>
      </a:accent4>
      <a:accent5>
        <a:srgbClr val="93660C"/>
      </a:accent5>
      <a:accent6>
        <a:srgbClr val="36A174"/>
      </a:accent6>
      <a:hlink>
        <a:srgbClr val="24493B"/>
      </a:hlink>
      <a:folHlink>
        <a:srgbClr val="DC624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VPorkPa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b1a53e548b41ff" /><Relationship Type="http://schemas.openxmlformats.org/officeDocument/2006/relationships/notesMaster" Target="/ppt/notesMasters/notesMaster1.xml" Id="R500fd23bf0ab46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4ddeec1afd4b35" /><Relationship Type="http://schemas.openxmlformats.org/officeDocument/2006/relationships/notesMaster" Target="/ppt/notesMasters/notesMaster1.xml" Id="Rc170fc5d47cb47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7fb3cf25514976" /><Relationship Type="http://schemas.openxmlformats.org/officeDocument/2006/relationships/notesMaster" Target="/ppt/notesMasters/notesMaster1.xml" Id="Rcd7359ce316944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e2173471f745ca" /><Relationship Type="http://schemas.openxmlformats.org/officeDocument/2006/relationships/notesMaster" Target="/ppt/notesMasters/notesMaster1.xml" Id="R97d95a261dcd4d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4e058e23c94891" /><Relationship Type="http://schemas.openxmlformats.org/officeDocument/2006/relationships/notesMaster" Target="/ppt/notesMasters/notesMaster1.xml" Id="R32a92430daed43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d37368494a4b25" /><Relationship Type="http://schemas.openxmlformats.org/officeDocument/2006/relationships/notesMaster" Target="/ppt/notesMasters/notesMaster1.xml" Id="Ra0f53a35e17140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54ce35597e4a87" /><Relationship Type="http://schemas.openxmlformats.org/officeDocument/2006/relationships/notesMaster" Target="/ppt/notesMasters/notesMaster1.xml" Id="R8e99e8ac7fb540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1a076796664320" /><Relationship Type="http://schemas.openxmlformats.org/officeDocument/2006/relationships/notesMaster" Target="/ppt/notesMasters/notesMaster1.xml" Id="R9dc90957eabe4d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promise: buy pork, pay in USDC, track the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https://github.com/vybao39-rgb/porkpay</a:t>
            </a:r>
          </a:p>
          <a:p xmlns:a="http://schemas.openxmlformats.org/drawingml/2006/main">
            <a:r>
              <a:t>- Project product imagery: AI-generated assets in the VPorkPay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problem statement: https://github.com/vybao39-rgb/porkpay#the-problem</a:t>
            </a:r>
          </a:p>
          <a:p xmlns:a="http://schemas.openxmlformats.org/drawingml/2006/main">
            <a:r>
              <a:t>- Project product imagery: AI-generated assets in the VPorkPay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product: https://vybao39-rgb.github.io/porkpay/</a:t>
            </a:r>
          </a:p>
          <a:p xmlns:a="http://schemas.openxmlformats.org/drawingml/2006/main">
            <a:r>
              <a:t>- Code: https://github.com/vybao39-rgb/porkpay</a:t>
            </a:r>
          </a:p>
          <a:p xmlns:a="http://schemas.openxmlformats.org/drawingml/2006/main">
            <a:r>
              <a:t>- Screenshot captured from the public VPorkPay GitHub Pages demo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browser screenshot is in demo mode because no wallet extension is injected. With an EVM wallet, the same UI requests the 0.01 testnet USDC transaction.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Implementation: https://github.com/vybao39-rgb/porkpay/blob/main/index.html</a:t>
            </a:r>
          </a:p>
          <a:p xmlns:a="http://schemas.openxmlformats.org/drawingml/2006/main">
            <a:r>
              <a:t>- Live demo: https://vybao39-rgb.github.io/porkpay/</a:t>
            </a:r>
          </a:p>
          <a:p xmlns:a="http://schemas.openxmlformats.org/drawingml/2006/main">
            <a:r>
              <a:t>- Arc Testnet USDC address: https://developers.circle.com/stablecoins/usdc-contract-addresses</a:t>
            </a:r>
          </a:p>
          <a:p xmlns:a="http://schemas.openxmlformats.org/drawingml/2006/main">
            <a:r>
              <a:t>- Arc connection parameters: https://docs.arc.io/integrate/connect-to-arc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https://docs.arc.io/arc-chain</a:t>
            </a:r>
          </a:p>
          <a:p xmlns:a="http://schemas.openxmlformats.org/drawingml/2006/main">
            <a:r>
              <a:t>- https://docs.arc.io/arc/concepts/stablecoin-native-model</a:t>
            </a:r>
          </a:p>
          <a:p xmlns:a="http://schemas.openxmlformats.org/drawingml/2006/main">
            <a:r>
              <a:t>- https://docs.arc.io/arc/references/rpc-endpoints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Implementation: https://github.com/vybao39-rgb/porkpay/blob/main/index.html</a:t>
            </a:r>
          </a:p>
          <a:p xmlns:a="http://schemas.openxmlformats.org/drawingml/2006/main">
            <a:r>
              <a:t>- Arc RPC and explorer: https://docs.arc.io/arc/references/rpc-endpoints</a:t>
            </a:r>
          </a:p>
          <a:p xmlns:a="http://schemas.openxmlformats.org/drawingml/2006/main">
            <a:r>
              <a:t>- Arc Testnet USDC contract: https://developers.circle.com/stablecoins/usdc-contract-addresses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roadmap: https://github.com/vybao39-rgb/porkpay#roadmap</a:t>
            </a:r>
          </a:p>
          <a:p xmlns:a="http://schemas.openxmlformats.org/drawingml/2006/main">
            <a:r>
              <a:t>- Project product imagery: AI-generated assets in the VPorkPay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giving reviewers the three public artifacts they need: code, live demo and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https://github.com/vybao39-rgb/porkpay</a:t>
            </a:r>
          </a:p>
          <a:p xmlns:a="http://schemas.openxmlformats.org/drawingml/2006/main">
            <a:r>
              <a:t>- https://vybao39-rgb.github.io/porkpay/</a:t>
            </a:r>
          </a:p>
          <a:p xmlns:a="http://schemas.openxmlformats.org/drawingml/2006/main">
            <a:r>
              <a:t>- https://vybao39-rgb.github.io/porkpay/presentation.html</a:t>
            </a:r>
          </a:p>
          <a:p xmlns:a="http://schemas.openxmlformats.org/drawingml/2006/main">
            <a:r>
              <a:t>- Project product imagery: AI-generated assets in the VPorkPay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a0ad006fbd45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e808fd20464c3f" /><Relationship Type="http://schemas.openxmlformats.org/officeDocument/2006/relationships/slideLayout" Target="/ppt/slideLayouts/slideLayout1.xml" Id="R1e4fc196116d40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4fc196116d40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VPorkPay">
      <a:dk1>
        <a:srgbClr val="000000"/>
      </a:dk1>
      <a:lt1>
        <a:srgbClr val="FFFFFF"/>
      </a:lt1>
      <a:dk2>
        <a:srgbClr val="171712"/>
      </a:dk2>
      <a:lt2>
        <a:srgbClr val="DAD6CC"/>
      </a:lt2>
      <a:accent1>
        <a:srgbClr val="DC624C"/>
      </a:accent1>
      <a:accent2>
        <a:srgbClr val="24493B"/>
      </a:accent2>
      <a:accent3>
        <a:srgbClr val="DCEB7B"/>
      </a:accent3>
      <a:accent4>
        <a:srgbClr val="F1B7AA"/>
      </a:accent4>
      <a:accent5>
        <a:srgbClr val="93660C"/>
      </a:accent5>
      <a:accent6>
        <a:srgbClr val="36A174"/>
      </a:accent6>
      <a:hlink>
        <a:srgbClr val="24493B"/>
      </a:hlink>
      <a:folHlink>
        <a:srgbClr val="DC624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VPorkPa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658fda5ff4728" /><Relationship Type="http://schemas.openxmlformats.org/officeDocument/2006/relationships/image" Target="/ppt/media/image.jpeg" Id="Rabd7a2c378f742eb" /><Relationship Type="http://schemas.openxmlformats.org/officeDocument/2006/relationships/image" Target="/ppt/media/image2.jpeg" Id="Re71c53fc54db4446" /><Relationship Type="http://schemas.openxmlformats.org/officeDocument/2006/relationships/notesSlide" Target="/ppt/notesSlides/notesSlide1.xml" Id="R95bf11e344794b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28f107ceb4051" /><Relationship Type="http://schemas.openxmlformats.org/officeDocument/2006/relationships/image" Target="/ppt/media/image3.jpeg" Id="Rebaab5c219b04b9b" /><Relationship Type="http://schemas.openxmlformats.org/officeDocument/2006/relationships/image" Target="/ppt/media/image4.jpeg" Id="Rfdd28f981d164088" /><Relationship Type="http://schemas.openxmlformats.org/officeDocument/2006/relationships/notesSlide" Target="/ppt/notesSlides/notesSlide2.xml" Id="Rd1bbe120722a43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4104500014bd3" /><Relationship Type="http://schemas.openxmlformats.org/officeDocument/2006/relationships/image" Target="/ppt/media/image5.jpeg" Id="Rf04c1f198df9434a" /><Relationship Type="http://schemas.openxmlformats.org/officeDocument/2006/relationships/notesSlide" Target="/ppt/notesSlides/notesSlide3.xml" Id="Rdc79bf308ebb41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f4b5d310e4c9c" /><Relationship Type="http://schemas.openxmlformats.org/officeDocument/2006/relationships/image" Target="/ppt/media/image6.jpeg" Id="R2dbf1138ff5140b7" /><Relationship Type="http://schemas.openxmlformats.org/officeDocument/2006/relationships/notesSlide" Target="/ppt/notesSlides/notesSlide4.xml" Id="Rf94f4a7013f645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f0ba6e1f04d7f" /><Relationship Type="http://schemas.openxmlformats.org/officeDocument/2006/relationships/notesSlide" Target="/ppt/notesSlides/notesSlide5.xml" Id="Rb4c1f0baa11b48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becf003074002" /><Relationship Type="http://schemas.openxmlformats.org/officeDocument/2006/relationships/notesSlide" Target="/ppt/notesSlides/notesSlide6.xml" Id="Rca1dd55277fa47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6bba6f8b14420" /><Relationship Type="http://schemas.openxmlformats.org/officeDocument/2006/relationships/image" Target="/ppt/media/image7.jpeg" Id="Rdfd24434e9064aae" /><Relationship Type="http://schemas.openxmlformats.org/officeDocument/2006/relationships/notesSlide" Target="/ppt/notesSlides/notesSlide7.xml" Id="Rde71e51c8df24d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05e4f823642a5" /><Relationship Type="http://schemas.openxmlformats.org/officeDocument/2006/relationships/image" Target="/ppt/media/image8.jpeg" Id="Re760cdf3c50244fc" /><Relationship Type="http://schemas.openxmlformats.org/officeDocument/2006/relationships/notesSlide" Target="/ppt/notesSlides/notesSlide8.xml" Id="R91499f6990cd48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81133-C788-4E4E-9504-E81B07D6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0"/>
            <a:ext cx="4667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7a2c378f742eb"/>
          <a:srcRect xmlns:a="http://schemas.openxmlformats.org/drawingml/2006/main" l="90" t="0" r="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904875"/>
            <a:ext cx="3524250" cy="2647950"/>
          </a:xfrm>
          <a:prstGeom xmlns:a="http://schemas.openxmlformats.org/drawingml/2006/main" prst="roundRect">
            <a:avLst>
              <a:gd name="adj" fmla="val 10791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c53fc54db4446"/>
          <a:srcRect xmlns:a="http://schemas.openxmlformats.org/drawingml/2006/main" l="0" t="10317" r="0" b="103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3762375"/>
            <a:ext cx="4000500" cy="2381250"/>
          </a:xfrm>
          <a:prstGeom xmlns:a="http://schemas.openxmlformats.org/drawingml/2006/main" prst="roundRect">
            <a:avLst>
              <a:gd name="adj" fmla="val 1200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33EA5-AEFD-4820-8EA0-7CD4AA7C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88214-22FC-4977-82A4-FC0C02A0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A29AD-4B0E-4B2B-BC1B-F4C3F08D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620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4493B"/>
                </a:solidFill>
              </a:defRPr>
            </a:pPr>
            <a:r>
              <a:rPr sz="975" b="1" i="0">
                <a:solidFill>
                  <a:srgbClr val="24493B"/>
                </a:solidFill>
              </a:rPr>
              <a:t>BUILD ON ARC 2026 · CHECKPOINT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36407-F0DF-4BF3-A279-4C71D1EE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400" b="0" i="0">
                <a:solidFill>
                  <a:srgbClr val="171712"/>
                </a:solidFill>
              </a:defRPr>
            </a:pPr>
            <a:r>
              <a:rPr sz="5400" b="0" i="0">
                <a:solidFill>
                  <a:srgbClr val="171712"/>
                </a:solidFill>
              </a:rPr>
              <a:t>VPorkPay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854A2-2A82-4C2C-8A87-EF7FEEB9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0" i="1">
                <a:solidFill>
                  <a:srgbClr val="DC624C"/>
                </a:solidFill>
              </a:defRPr>
            </a:pPr>
            <a:r>
              <a:rPr sz="4200" b="0" i="1">
                <a:solidFill>
                  <a:srgbClr val="DC624C"/>
                </a:solidFill>
              </a:rPr>
              <a:t>Source better.</a:t>
            </a:r>
          </a:p>
          <a:p xmlns:a="http://schemas.openxmlformats.org/drawingml/2006/main">
            <a:pPr algn="l">
              <a:buNone/>
              <a:defRPr sz="4200" b="0" i="1">
                <a:solidFill>
                  <a:srgbClr val="DC624C"/>
                </a:solidFill>
              </a:defRPr>
            </a:pPr>
            <a:r>
              <a:rPr sz="4200" b="0" i="1">
                <a:solidFill>
                  <a:srgbClr val="DC624C"/>
                </a:solidFill>
              </a:rPr>
              <a:t>Pay smarter.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A6D5F-C8DB-48AA-B3AE-0BD9EDF5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6B6F66"/>
                </a:solidFill>
              </a:defRPr>
            </a:pPr>
            <a:r>
              <a:rPr sz="1725" b="0" i="0">
                <a:solidFill>
                  <a:srgbClr val="6B6F66"/>
                </a:solidFill>
              </a:rPr>
              <a:t>A USDC-native pork marketplace for buyer-to-supplier settlement on Arc.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C3AF3-A32B-4ED7-BA7C-6FFEA68F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2571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4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50541-E31E-43E6-BFF9-AEC0C004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DEFI TRACK · TESTNET MVP</a:t>
            </a:r>
          </a:p>
        </p:txBody>
      </p:sp>
    </p:spTree>
    <p:extLst>
      <p:ext uri="{BB962C8B-B14F-4D97-AF65-F5344CB8AC3E}">
        <p14:creationId xmlns:p14="http://schemas.microsoft.com/office/powerpoint/2010/main" val="14664660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328B53-39E0-4972-A2F5-E4FBE9AB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DC624C"/>
                </a:solidFill>
              </a:defRPr>
            </a:pPr>
            <a:r>
              <a:rPr sz="975" b="1" i="0">
                <a:solidFill>
                  <a:srgbClr val="DC624C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454BD-660A-4081-B557-57A0B41F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66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 i="0">
                <a:solidFill>
                  <a:srgbClr val="171712"/>
                </a:solidFill>
              </a:defRPr>
            </a:pPr>
            <a:r>
              <a:rPr sz="3300" b="0" i="0">
                <a:solidFill>
                  <a:srgbClr val="171712"/>
                </a:solidFill>
              </a:rPr>
              <a:t>Pork trade still runs on fragmented coordination.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0721A-ACF5-47A1-8DA2-EA840CAA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624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92BB2-6E4A-4355-9766-7FABCA14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61F9A-C626-4745-ABD5-B6A63EE6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406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71712"/>
                </a:solidFill>
              </a:defRPr>
            </a:pPr>
            <a:r>
              <a:rPr sz="1650" b="1" i="0">
                <a:solidFill>
                  <a:srgbClr val="171712"/>
                </a:solidFill>
              </a:rPr>
              <a:t>Prices are hard to compare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6A076-36F9-4D33-B44C-DE4EFA19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4067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B6F66"/>
                </a:solidFill>
              </a:defRPr>
            </a:pPr>
            <a:r>
              <a:rPr sz="1275" b="0" i="0">
                <a:solidFill>
                  <a:srgbClr val="6B6F66"/>
                </a:solidFill>
              </a:rPr>
              <a:t>Buyers discover offers across disconnected messages and spreadsheets.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90CBC-6CAE-4342-8BF4-FE0FDA39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FE2BD-0079-4122-A9E3-39565507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406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71712"/>
                </a:solidFill>
              </a:defRPr>
            </a:pPr>
            <a:r>
              <a:rPr sz="1650" b="1" i="0">
                <a:solidFill>
                  <a:srgbClr val="171712"/>
                </a:solidFill>
              </a:rPr>
              <a:t>Settlement is slow to verify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680B8-5281-47CB-85FC-00D1D10D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00475"/>
            <a:ext cx="4067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B6F66"/>
                </a:solidFill>
              </a:defRPr>
            </a:pPr>
            <a:r>
              <a:rPr sz="1275" b="0" i="0">
                <a:solidFill>
                  <a:srgbClr val="6B6F66"/>
                </a:solidFill>
              </a:rPr>
              <a:t>Cash and bank transfers separate payment confirmation from the order record.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DFF30-2944-4451-8A92-831B35C7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0E08C-8EA3-41E4-8745-6CF252B8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406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71712"/>
                </a:solidFill>
              </a:defRPr>
            </a:pPr>
            <a:r>
              <a:rPr sz="1650" b="1" i="0">
                <a:solidFill>
                  <a:srgbClr val="171712"/>
                </a:solidFill>
              </a:rPr>
              <a:t>Delivery has no shared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8DDEE-BC23-4305-A4B2-8D8F406D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4067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B6F66"/>
                </a:solidFill>
              </a:defRPr>
            </a:pPr>
            <a:r>
              <a:rPr sz="1275" b="0" i="0">
                <a:solidFill>
                  <a:srgbClr val="6B6F66"/>
                </a:solidFill>
              </a:rPr>
              <a:t>Buyer and supplier lack one timeline for payment, fulfilment and settlement.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ab5c219b04b9b"/>
          <a:srcRect xmlns:a="http://schemas.openxmlformats.org/drawingml/2006/main" l="25000" t="0" r="2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2381250"/>
            <a:ext cx="2095500" cy="3143250"/>
          </a:xfrm>
          <a:prstGeom xmlns:a="http://schemas.openxmlformats.org/drawingml/2006/main" prst="roundRect">
            <a:avLst>
              <a:gd name="adj" fmla="val 12727"/>
            </a:avLst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28f981d164088"/>
          <a:srcRect xmlns:a="http://schemas.openxmlformats.org/drawingml/2006/main" l="20682" t="0" r="20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48750" y="2381250"/>
            <a:ext cx="2457450" cy="3143250"/>
          </a:xfrm>
          <a:prstGeom xmlns:a="http://schemas.openxmlformats.org/drawingml/2006/main" prst="roundRect">
            <a:avLst>
              <a:gd name="adj" fmla="val 10853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D09F9-6BB7-42F3-9AAD-2F4C47EF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67375"/>
            <a:ext cx="47434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244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A5664-D770-4B6A-8E2F-1BF2FE02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102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One USDC-denominated commerce record.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61EF58-269E-4A88-876B-AC371EA8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85887F"/>
                </a:solidFill>
              </a:defRPr>
            </a:pPr>
            <a:r>
              <a:rPr sz="750" b="1" i="0">
                <a:solidFill>
                  <a:srgbClr val="85887F"/>
                </a:solidFill>
              </a:rPr>
              <a:t>VPORKPAY</a:t>
            </a:r>
            <a:r>
              <a:rPr sz="750" b="1" i="0">
                <a:solidFill>
                  <a:srgbClr val="85887F"/>
                </a:solidFill>
              </a:rPr>
              <a:t> · CHECKPOINT 2 · DEFI TRACK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F301C-3143-4034-8D9B-7AD00C7B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85887F"/>
                </a:solidFill>
              </a:defRPr>
            </a:pPr>
            <a:r>
              <a:rPr sz="750" b="1" i="0">
                <a:solidFill>
                  <a:srgbClr val="85887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681443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43303B-1C82-4A0B-BB15-EC4CDDDF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DC624C"/>
                </a:solidFill>
              </a:defRPr>
            </a:pPr>
            <a:r>
              <a:rPr sz="975" b="1" i="0">
                <a:solidFill>
                  <a:srgbClr val="DC624C"/>
                </a:solidFill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DF813-D64B-4A8F-A5DF-146F472A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 i="0">
                <a:solidFill>
                  <a:srgbClr val="171712"/>
                </a:solidFill>
              </a:defRPr>
            </a:pPr>
            <a:r>
              <a:rPr sz="3150" b="0" i="0">
                <a:solidFill>
                  <a:srgbClr val="171712"/>
                </a:solidFill>
              </a:rPr>
              <a:t>One flow connects discovery, ordering and USDC settlement.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02408-9452-4181-844E-54F9DD35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4933950" cy="39052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6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c1f198df9434a"/>
          <a:srcRect xmlns:a="http://schemas.openxmlformats.org/drawingml/2006/main" l="9628" t="0" r="96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762750" y="2047875"/>
            <a:ext cx="4552950" cy="3524250"/>
          </a:xfrm>
          <a:prstGeom xmlns:a="http://schemas.openxmlformats.org/drawingml/2006/main" prst="round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D8689-9C67-4059-9F80-08A41377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0" i="0">
                <a:solidFill>
                  <a:srgbClr val="DC624C"/>
                </a:solidFill>
              </a:defRPr>
            </a:pPr>
            <a:r>
              <a:rPr sz="2550" b="0" i="0">
                <a:solidFill>
                  <a:srgbClr val="DC624C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006965-B674-447C-BE8C-625A5389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145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71712"/>
                </a:solidFill>
              </a:defRPr>
            </a:pPr>
            <a:r>
              <a:rPr sz="1725" b="1" i="0">
                <a:solidFill>
                  <a:srgbClr val="171712"/>
                </a:solidFill>
              </a:rPr>
              <a:t>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B886C-0C23-47E1-AF00-154C9E80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9555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B6F66"/>
                </a:solidFill>
              </a:defRPr>
            </a:pPr>
            <a:r>
              <a:rPr sz="1275" b="0" i="0">
                <a:solidFill>
                  <a:srgbClr val="6B6F66"/>
                </a:solidFill>
              </a:rPr>
              <a:t>Compare verified suppliers, cuts and USDC prices.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D35C8-5DF1-4714-BC65-BF532DC0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242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697D7-4270-4456-BD46-03AA9E53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0" i="0">
                <a:solidFill>
                  <a:srgbClr val="DC624C"/>
                </a:solidFill>
              </a:defRPr>
            </a:pPr>
            <a:r>
              <a:rPr sz="2550" b="0" i="0">
                <a:solidFill>
                  <a:srgbClr val="DC624C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B66F2-E80C-4A09-B722-16CF7ED2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718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71712"/>
                </a:solidFill>
              </a:defRPr>
            </a:pPr>
            <a:r>
              <a:rPr sz="1725" b="1" i="0">
                <a:solidFill>
                  <a:srgbClr val="171712"/>
                </a:solidFill>
              </a:rPr>
              <a:t>Order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A83C7-C08B-4086-B17F-43C10584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5285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B6F66"/>
                </a:solidFill>
              </a:defRPr>
            </a:pPr>
            <a:r>
              <a:rPr sz="1275" b="0" i="0">
                <a:solidFill>
                  <a:srgbClr val="6B6F66"/>
                </a:solidFill>
              </a:rPr>
              <a:t>Build a cart and capture delivery details.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7355C-82AD-4720-934A-B42E1002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6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A2BC4-6F0E-4F5B-9E39-EA7E79B6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0" i="0">
                <a:solidFill>
                  <a:srgbClr val="DC624C"/>
                </a:solidFill>
              </a:defRPr>
            </a:pPr>
            <a:r>
              <a:rPr sz="2550" b="0" i="0">
                <a:solidFill>
                  <a:srgbClr val="DC624C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BDC19-A524-4AF2-89CB-B5C6853A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71712"/>
                </a:solidFill>
              </a:defRPr>
            </a:pPr>
            <a:r>
              <a:rPr sz="1725" b="1" i="0">
                <a:solidFill>
                  <a:srgbClr val="171712"/>
                </a:solidFill>
              </a:rPr>
              <a:t>Settle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8E001F-F8A6-4519-86CE-75C0249E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1015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B6F66"/>
                </a:solidFill>
              </a:defRPr>
            </a:pPr>
            <a:r>
              <a:rPr sz="1275" b="0" i="0">
                <a:solidFill>
                  <a:srgbClr val="6B6F66"/>
                </a:solidFill>
              </a:rPr>
              <a:t>Connect an EVM wallet and confirm the payment path.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F596B-D805-4EA8-83E7-B86FDC4F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50482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4457C8-79AE-4225-A573-29DDD810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29325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4493B"/>
                </a:solidFill>
              </a:defRPr>
            </a:pPr>
            <a:r>
              <a:rPr sz="1050" b="1" i="0">
                <a:solidFill>
                  <a:srgbClr val="24493B"/>
                </a:solidFill>
              </a:rPr>
              <a:t>Functional frontend MVP · dependency-free static web 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3D287-0CAC-41B3-9A5C-42A574E6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85887F"/>
                </a:solidFill>
              </a:defRPr>
            </a:pPr>
            <a:r>
              <a:rPr sz="750" b="1" i="0">
                <a:solidFill>
                  <a:srgbClr val="85887F"/>
                </a:solidFill>
              </a:rPr>
              <a:t>VPORKPAY</a:t>
            </a:r>
            <a:r>
              <a:rPr sz="750" b="1" i="0">
                <a:solidFill>
                  <a:srgbClr val="85887F"/>
                </a:solidFill>
              </a:rPr>
              <a:t> · CHECKPOINT 2 · DEFI TRACK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377D6C-52CA-4937-ABBB-BEAC985D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85887F"/>
                </a:solidFill>
              </a:defRPr>
            </a:pPr>
            <a:r>
              <a:rPr sz="750" b="1" i="0">
                <a:solidFill>
                  <a:srgbClr val="85887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14142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EB59EC-CC82-428F-B683-3937B1FB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DCEB7B"/>
                </a:solidFill>
              </a:defRPr>
            </a:pPr>
            <a:r>
              <a:rPr sz="975" b="1" i="0">
                <a:solidFill>
                  <a:srgbClr val="DCEB7B"/>
                </a:solidFill>
              </a:rPr>
              <a:t>CHECKPOINT 2 SHIPPED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7646E-6081-46B4-86F3-21DD3C52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 i="0">
                <a:solidFill>
                  <a:srgbClr val="FFFFFF"/>
                </a:solidFill>
              </a:defRPr>
            </a:pPr>
            <a:r>
              <a:rPr sz="3150" b="0" i="0">
                <a:solidFill>
                  <a:srgbClr val="FFFFFF"/>
                </a:solidFill>
              </a:rPr>
              <a:t>The demo now creates an Arc Testnet proof payment.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F12D4-02E6-4C9F-9428-8E79183D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324600" cy="39052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FF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f1138ff5140b7"/>
          <a:srcRect xmlns:a="http://schemas.openxmlformats.org/drawingml/2006/main" l="0" t="2357" r="0" b="2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57250" y="2057400"/>
            <a:ext cx="5981700" cy="3562350"/>
          </a:xfrm>
          <a:prstGeom xmlns:a="http://schemas.openxmlformats.org/drawingml/2006/main" prst="round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C98F1-3353-4AE6-946C-F8750A82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99072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B9F0A-AF94-4323-AAD5-82484D73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002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71712"/>
                </a:solidFill>
              </a:defRPr>
            </a:pPr>
            <a:r>
              <a:rPr sz="1050" b="1" i="0">
                <a:solidFill>
                  <a:srgbClr val="171712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DF1D0-B4B0-4C76-8799-DE7CDA2D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Connect and switch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F4273-3FC5-4090-997C-6F6FD0A4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C8CBC3"/>
                </a:solidFill>
              </a:defRPr>
            </a:pPr>
            <a:r>
              <a:rPr sz="1125" b="0" i="0">
                <a:solidFill>
                  <a:srgbClr val="C8CBC3"/>
                </a:solidFill>
              </a:rPr>
              <a:t>Request an EVM account and move the wallet to Arc Testnet.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4D3A4-71B5-46AB-B93A-822216B3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0512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BF3B2-9DDF-4B92-9313-527D6A09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146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71712"/>
                </a:solidFill>
              </a:defRPr>
            </a:pPr>
            <a:r>
              <a:rPr sz="1050" b="1" i="0">
                <a:solidFill>
                  <a:srgbClr val="171712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DC298-D6D7-46C1-9137-75FF142F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670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Read USDC balance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6F8A7-7432-43D8-B6F6-626DB9C3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6230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C8CBC3"/>
                </a:solidFill>
              </a:defRPr>
            </a:pPr>
            <a:r>
              <a:rPr sz="1125" b="0" i="0">
                <a:solidFill>
                  <a:srgbClr val="C8CBC3"/>
                </a:solidFill>
              </a:rPr>
              <a:t>Query the official Arc Testnet USDC ERC-20 contract.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E608C-7F27-4569-AB1E-88CBB445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81952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921FE5-32BE-4444-A7A1-BF299AA1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8290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71712"/>
                </a:solidFill>
              </a:defRPr>
            </a:pPr>
            <a:r>
              <a:rPr sz="1050" b="1" i="0">
                <a:solidFill>
                  <a:srgbClr val="171712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6BD49-7241-4395-B2A7-7F9E0069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814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Send a 0.01 proof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D3930-7BC1-4D44-97AC-EF7A44EC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7670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C8CBC3"/>
                </a:solidFill>
              </a:defRPr>
            </a:pPr>
            <a:r>
              <a:rPr sz="1125" b="0" i="0">
                <a:solidFill>
                  <a:srgbClr val="C8CBC3"/>
                </a:solidFill>
              </a:rPr>
              <a:t>Submit a self-transfer so the displayed order total is never charged.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CD57E-4450-4FDC-9C08-C5BFCC0C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3392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7B842B-0431-4FA6-8CA0-F587E0B3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434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71712"/>
                </a:solidFill>
              </a:defRPr>
            </a:pPr>
            <a:r>
              <a:rPr sz="1050" b="1" i="0">
                <a:solidFill>
                  <a:srgbClr val="171712"/>
                </a:solidFill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08B17-79C5-4C1A-B5EE-91898256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958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Verify finality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CF8C89-5E92-4011-89EF-E4A7555D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9110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C8CBC3"/>
                </a:solidFill>
              </a:defRPr>
            </a:pPr>
            <a:r>
              <a:rPr sz="1125" b="0" i="0">
                <a:solidFill>
                  <a:srgbClr val="C8CBC3"/>
                </a:solidFill>
              </a:rPr>
              <a:t>Poll the receipt and expose the Arcscan transaction link.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1EC3A5-B3B9-4042-AA64-97372C7B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715000"/>
            <a:ext cx="3714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457DFA-F657-4D6B-806A-E8D64CB2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8578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TESTNET ONLY · NEVER USE REAL FUNDS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C5DFE2-82BC-4EEB-A105-122171B4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C8CBC3"/>
                </a:solidFill>
              </a:defRPr>
            </a:pPr>
            <a:r>
              <a:rPr sz="750" b="1" i="0">
                <a:solidFill>
                  <a:srgbClr val="C8CBC3"/>
                </a:solidFill>
              </a:rPr>
              <a:t>VPORKPAY</a:t>
            </a:r>
            <a:r>
              <a:rPr sz="750" b="1" i="0">
                <a:solidFill>
                  <a:srgbClr val="C8CBC3"/>
                </a:solidFill>
              </a:rPr>
              <a:t> · CHECKPOINT 2 · DEFI TRACK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583D9F-C412-499E-85BD-79BEBC0F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C8CBC3"/>
                </a:solidFill>
              </a:defRPr>
            </a:pPr>
            <a:r>
              <a:rPr sz="750" b="1" i="0">
                <a:solidFill>
                  <a:srgbClr val="C8CBC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152143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DCD159-02A2-4178-95A4-E320DF1A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DC624C"/>
                </a:solidFill>
              </a:defRPr>
            </a:pPr>
            <a:r>
              <a:rPr sz="975" b="1" i="0">
                <a:solidFill>
                  <a:srgbClr val="DC624C"/>
                </a:solidFill>
              </a:rPr>
              <a:t>WHY ARC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68128-E45E-436A-B7A8-045D3FA0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 i="0">
                <a:solidFill>
                  <a:srgbClr val="171712"/>
                </a:solidFill>
              </a:defRPr>
            </a:pPr>
            <a:r>
              <a:rPr sz="3150" b="0" i="0">
                <a:solidFill>
                  <a:srgbClr val="171712"/>
                </a:solidFill>
              </a:rPr>
              <a:t>Arc makes USDC the payment asset and the gas asset.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6ACEA-7CCC-4082-BB89-66E85CEF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4333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00" b="1" i="0">
                <a:solidFill>
                  <a:srgbClr val="DC624C"/>
                </a:solidFill>
              </a:defRPr>
            </a:pPr>
            <a:r>
              <a:rPr sz="7800" b="1" i="0">
                <a:solidFill>
                  <a:srgbClr val="DC624C"/>
                </a:solidFill>
              </a:rPr>
              <a:t>USDC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44161-51BB-4FA7-AD7C-4F97002B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B6F66"/>
                </a:solidFill>
              </a:defRPr>
            </a:pPr>
            <a:r>
              <a:rPr sz="1500" b="0" i="0">
                <a:solidFill>
                  <a:srgbClr val="6B6F66"/>
                </a:solidFill>
              </a:rPr>
              <a:t>one balance for value transfer and network fees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76E47-D936-4B76-A074-54CD9248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476750" cy="104775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244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CC7CB-2E5C-47F2-B71C-28BF76F8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DCEB7B"/>
                </a:solidFill>
              </a:defRPr>
            </a:pPr>
            <a:r>
              <a:rPr sz="1350" b="1" i="0">
                <a:solidFill>
                  <a:srgbClr val="DCEB7B"/>
                </a:solidFill>
              </a:rPr>
              <a:t>Arc Testnet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68F97-8EFE-4553-887C-6BA0A0C8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673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Chain ID 5042002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RPC  rpc.testnet.arc.network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943EB-2F29-49F5-95A1-8DECCEE5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DC624C"/>
                </a:solidFill>
              </a:defRPr>
            </a:pPr>
            <a:r>
              <a:rPr sz="1950" b="0" i="0">
                <a:solidFill>
                  <a:srgbClr val="DC624C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EBA29-6E43-4B60-9DBA-F04161B1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71712"/>
                </a:solidFill>
              </a:defRPr>
            </a:pPr>
            <a:r>
              <a:rPr sz="1650" b="1" i="0">
                <a:solidFill>
                  <a:srgbClr val="171712"/>
                </a:solidFill>
              </a:rPr>
              <a:t>Dollar-denominated gas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99FF5-418D-4F99-AC1B-6D5D161A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B6F66"/>
                </a:solidFill>
              </a:defRPr>
            </a:pPr>
            <a:r>
              <a:rPr sz="1200" b="0" i="0">
                <a:solidFill>
                  <a:srgbClr val="6B6F66"/>
                </a:solidFill>
              </a:rPr>
              <a:t>USDC is Arc's native gas token, removing the need for a separate volatile fee asset.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A6CBE-C72F-4F87-BADE-3879D44F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6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EC515-47E5-42CB-9C97-10906AEA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480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DC624C"/>
                </a:solidFill>
              </a:defRPr>
            </a:pPr>
            <a:r>
              <a:rPr sz="1950" b="0" i="0">
                <a:solidFill>
                  <a:srgbClr val="DC624C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84A29-964A-4392-9E33-6E9EB33B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71712"/>
                </a:solidFill>
              </a:defRPr>
            </a:pPr>
            <a:r>
              <a:rPr sz="1650" b="1" i="0">
                <a:solidFill>
                  <a:srgbClr val="171712"/>
                </a:solidFill>
              </a:rPr>
              <a:t>Sub-second deterministic finality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309A5-1526-48EB-9D6D-A3F61995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9525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B6F66"/>
                </a:solidFill>
              </a:defRPr>
            </a:pPr>
            <a:r>
              <a:rPr sz="1200" b="0" i="0">
                <a:solidFill>
                  <a:srgbClr val="6B6F66"/>
                </a:solidFill>
              </a:rPr>
              <a:t>Transactions finalize in under one second with no chain-reorganization risk.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8CC008-1DEC-4471-B01C-45D822D3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6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CAF91-3DD6-468D-ADE1-E0764112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482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DC624C"/>
                </a:solidFill>
              </a:defRPr>
            </a:pPr>
            <a:r>
              <a:rPr sz="1950" b="0" i="0">
                <a:solidFill>
                  <a:srgbClr val="DC624C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6F978-7AE9-4F26-8525-88D2A163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48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71712"/>
                </a:solidFill>
              </a:defRPr>
            </a:pPr>
            <a:r>
              <a:rPr sz="1650" b="1" i="0">
                <a:solidFill>
                  <a:srgbClr val="171712"/>
                </a:solidFill>
              </a:rPr>
              <a:t>EVM compatibility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62F47-07DF-4BEB-89C9-6FE18DE7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19675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B6F66"/>
                </a:solidFill>
              </a:defRPr>
            </a:pPr>
            <a:r>
              <a:rPr sz="1200" b="0" i="0">
                <a:solidFill>
                  <a:srgbClr val="6B6F66"/>
                </a:solidFill>
              </a:rPr>
              <a:t>Existing Solidity contracts and standard Ethereum tooling remain usable.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CF50F1-3CE7-4BC2-9EC0-D4F7B0EB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85887F"/>
                </a:solidFill>
              </a:defRPr>
            </a:pPr>
            <a:r>
              <a:rPr sz="750" b="1" i="0">
                <a:solidFill>
                  <a:srgbClr val="85887F"/>
                </a:solidFill>
              </a:rPr>
              <a:t>VPORKPAY</a:t>
            </a:r>
            <a:r>
              <a:rPr sz="750" b="1" i="0">
                <a:solidFill>
                  <a:srgbClr val="85887F"/>
                </a:solidFill>
              </a:rPr>
              <a:t> · CHECKPOINT 2 · DEFI TRACK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CBAC6B-596E-40FA-908A-1B08238B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85887F"/>
                </a:solidFill>
              </a:defRPr>
            </a:pPr>
            <a:r>
              <a:rPr sz="750" b="1" i="0">
                <a:solidFill>
                  <a:srgbClr val="85887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957629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62C8CD-C2F1-4F1D-B903-ADCE2D6D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DC624C"/>
                </a:solidFill>
              </a:defRPr>
            </a:pPr>
            <a:r>
              <a:rPr sz="975" b="1" i="0">
                <a:solidFill>
                  <a:srgbClr val="DC624C"/>
                </a:solidFill>
              </a:rPr>
              <a:t>CURRENT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F1485-B7B8-49BB-AFB9-1301AA44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 i="0">
                <a:solidFill>
                  <a:srgbClr val="171712"/>
                </a:solidFill>
              </a:defRPr>
            </a:pPr>
            <a:r>
              <a:rPr sz="3150" b="0" i="0">
                <a:solidFill>
                  <a:srgbClr val="171712"/>
                </a:solidFill>
              </a:rPr>
              <a:t>The MVP keeps the payment path simple and inspectable.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67DC1-1595-453F-AB9A-61FC6BF8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52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DC624C"/>
                </a:solidFill>
              </a:defRPr>
            </a:pPr>
            <a:r>
              <a:rPr sz="2400" b="1" i="0">
                <a:solidFill>
                  <a:srgbClr val="DC624C"/>
                </a:solidFill>
              </a:rPr>
              <a:t>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52B8E-6EA3-45AD-9052-C9C1E837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52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DC624C"/>
                </a:solidFill>
              </a:defRPr>
            </a:pPr>
            <a:r>
              <a:rPr sz="2400" b="1" i="0">
                <a:solidFill>
                  <a:srgbClr val="DC624C"/>
                </a:solidFill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4EA67-6834-4C0A-B585-66C8C575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52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DC624C"/>
                </a:solidFill>
              </a:defRPr>
            </a:pPr>
            <a:r>
              <a:rPr sz="2400" b="1" i="0">
                <a:solidFill>
                  <a:srgbClr val="DC624C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D21E8-D25B-4253-BB0C-309A15E8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52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DC624C"/>
                </a:solidFill>
              </a:defRPr>
            </a:pPr>
            <a:r>
              <a:rPr sz="2400" b="1" i="0">
                <a:solidFill>
                  <a:srgbClr val="DC624C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1071F-6B48-4561-B9BB-1BC0F690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8097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AD6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BCC5C-A1BA-4C21-B9BF-DDAAD860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DC624C"/>
                </a:solidFill>
              </a:defRPr>
            </a:pPr>
            <a:r>
              <a:rPr sz="1125" b="1" i="0">
                <a:solidFill>
                  <a:srgbClr val="DC624C"/>
                </a:solidFill>
              </a:rPr>
              <a:t>BUYER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CEBA8-718D-4FD3-9F31-2FEDDE0F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71712"/>
                </a:solidFill>
              </a:defRPr>
            </a:pPr>
            <a:r>
              <a:rPr sz="1350" b="0" i="0">
                <a:solidFill>
                  <a:srgbClr val="171712"/>
                </a:solidFill>
              </a:rPr>
              <a:t>Browses and orders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14391-6F5D-4373-81E9-8FFEC9F4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18097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AD6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F3B9E-2FB2-472A-A3A9-9ABA6591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670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DC624C"/>
                </a:solidFill>
              </a:defRPr>
            </a:pPr>
            <a:r>
              <a:rPr sz="1125" b="1" i="0">
                <a:solidFill>
                  <a:srgbClr val="DC624C"/>
                </a:solidFill>
              </a:rPr>
              <a:t>VPORKPAY</a:t>
            </a:r>
            <a:r>
              <a:rPr sz="1125" b="1" i="0">
                <a:solidFill>
                  <a:srgbClr val="DC624C"/>
                </a:solidFill>
              </a:rPr>
              <a:t> WEB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729490-01E0-41F3-98CE-9A3F62CF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33725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71712"/>
                </a:solidFill>
              </a:defRPr>
            </a:pPr>
            <a:r>
              <a:rPr sz="1350" b="0" i="0">
                <a:solidFill>
                  <a:srgbClr val="171712"/>
                </a:solidFill>
              </a:rPr>
              <a:t>Calculates USDC total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0606A-CECC-4352-B40E-77E91232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81250"/>
            <a:ext cx="18097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AD6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6CC5BB-0AFC-4FF2-B564-79BA0FEE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670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DC624C"/>
                </a:solidFill>
              </a:defRPr>
            </a:pPr>
            <a:r>
              <a:rPr sz="1125" b="1" i="0">
                <a:solidFill>
                  <a:srgbClr val="DC624C"/>
                </a:solidFill>
              </a:rPr>
              <a:t>EVM WALLET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4A513-D520-460D-8226-C399AB38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33725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71712"/>
                </a:solidFill>
              </a:defRPr>
            </a:pPr>
            <a:r>
              <a:rPr sz="1350" b="0" i="0">
                <a:solidFill>
                  <a:srgbClr val="171712"/>
                </a:solidFill>
              </a:rPr>
              <a:t>Signs the transaction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3CD05-B1D5-4C2F-9F24-D549A6BD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18097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24493B"/>
          </a:solidFill>
          <a:ln xmlns:a="http://schemas.openxmlformats.org/drawingml/2006/main" w="9525">
            <a:solidFill>
              <a:srgbClr val="244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97FF83-7260-435B-9F66-6034B1C7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670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DCEB7B"/>
                </a:solidFill>
              </a:defRPr>
            </a:pPr>
            <a:r>
              <a:rPr sz="1125" b="1" i="0">
                <a:solidFill>
                  <a:srgbClr val="DCEB7B"/>
                </a:solidFill>
              </a:rPr>
              <a:t>ARC TESTNET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C6D9F3-A2B9-4EF2-94CA-4EC5F47F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33725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Executes USDC transfer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8F735-7C69-49C5-A956-A4008B0D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18097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AD6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C513E-FB37-43DC-B8A1-4C5735F0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DC624C"/>
                </a:solidFill>
              </a:defRPr>
            </a:pPr>
            <a:r>
              <a:rPr sz="1125" b="1" i="0">
                <a:solidFill>
                  <a:srgbClr val="DC624C"/>
                </a:solidFill>
              </a:rPr>
              <a:t>ARCSCAN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1FE5F5-3ED3-43FE-9A22-A498F95C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33725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71712"/>
                </a:solidFill>
              </a:defRPr>
            </a:pPr>
            <a:r>
              <a:rPr sz="1350" b="0" i="0">
                <a:solidFill>
                  <a:srgbClr val="171712"/>
                </a:solidFill>
              </a:rPr>
              <a:t>Shows proof and 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B2D682-48F6-47D0-A136-AACA6816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6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4AA7B9-3C22-4105-8320-C166D10B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71712"/>
                </a:solidFill>
              </a:defRPr>
            </a:pPr>
            <a:r>
              <a:rPr sz="1575" b="1" i="0">
                <a:solidFill>
                  <a:srgbClr val="171712"/>
                </a:solidFill>
              </a:rPr>
              <a:t>No custodial keys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48D1A0-BB7C-4877-95F6-7DEF68F3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B6F66"/>
                </a:solidFill>
              </a:defRPr>
            </a:pPr>
            <a:r>
              <a:rPr sz="1200" b="0" i="0">
                <a:solidFill>
                  <a:srgbClr val="6B6F66"/>
                </a:solidFill>
              </a:rPr>
              <a:t>The wallet signs from the user's browser.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0629F9-6A00-4EF8-B4BE-8343D994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0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71712"/>
                </a:solidFill>
              </a:defRPr>
            </a:pPr>
            <a:r>
              <a:rPr sz="1575" b="1" i="0">
                <a:solidFill>
                  <a:srgbClr val="171712"/>
                </a:solidFill>
              </a:rPr>
              <a:t>No real funds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B25987-6A60-444C-9ACB-2F3B9BFD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816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B6F66"/>
                </a:solidFill>
              </a:defRPr>
            </a:pPr>
            <a:r>
              <a:rPr sz="1200" b="0" i="0">
                <a:solidFill>
                  <a:srgbClr val="6B6F66"/>
                </a:solidFill>
              </a:rPr>
              <a:t>The proof flow is restricted to Arc Testnet.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6A63E4-E8D1-4622-898E-8A7DEF57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0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71712"/>
                </a:solidFill>
              </a:defRPr>
            </a:pPr>
            <a:r>
              <a:rPr sz="1575" b="1" i="0">
                <a:solidFill>
                  <a:srgbClr val="171712"/>
                </a:solidFill>
              </a:rPr>
              <a:t>Escrow is next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BF3137-D087-45FF-851A-6EB3ABFD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816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B6F66"/>
                </a:solidFill>
              </a:defRPr>
            </a:pPr>
            <a:r>
              <a:rPr sz="1200" b="0" i="0">
                <a:solidFill>
                  <a:srgbClr val="6B6F66"/>
                </a:solidFill>
              </a:rPr>
              <a:t>Checkpoint 3 adds the minimal settlement contract.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6B169A-3B1E-415A-9A55-E90C33D3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85887F"/>
                </a:solidFill>
              </a:defRPr>
            </a:pPr>
            <a:r>
              <a:rPr sz="750" b="1" i="0">
                <a:solidFill>
                  <a:srgbClr val="85887F"/>
                </a:solidFill>
              </a:rPr>
              <a:t>VPORKPAY</a:t>
            </a:r>
            <a:r>
              <a:rPr sz="750" b="1" i="0">
                <a:solidFill>
                  <a:srgbClr val="85887F"/>
                </a:solidFill>
              </a:rPr>
              <a:t> · CHECKPOINT 2 · DEFI TRACK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F2005C-D374-4B2E-A02D-98B056B2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85887F"/>
                </a:solidFill>
              </a:defRPr>
            </a:pPr>
            <a:r>
              <a:rPr sz="750" b="1" i="0">
                <a:solidFill>
                  <a:srgbClr val="85887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181613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E44A58-DAC7-4AA0-9AED-1FD55D71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DCEB7B"/>
                </a:solidFill>
              </a:defRPr>
            </a:pPr>
            <a:r>
              <a:rPr sz="975" b="1" i="0">
                <a:solidFill>
                  <a:srgbClr val="DCEB7B"/>
                </a:solidFill>
              </a:rPr>
              <a:t>NEXT MILESTONE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5123B-0E2E-45C6-9048-0B60FAA6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 i="0">
                <a:solidFill>
                  <a:srgbClr val="FFFFFF"/>
                </a:solidFill>
              </a:defRPr>
            </a:pPr>
            <a:r>
              <a:rPr sz="3150" b="0" i="0">
                <a:solidFill>
                  <a:srgbClr val="FFFFFF"/>
                </a:solidFill>
              </a:rPr>
              <a:t>Checkpoint 3 turns the proof into supplier settlement.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2B6C2-EA7E-4261-9066-487FAA59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86125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67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E6C15-160E-40D7-B825-EED9F0AF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5705A-7A0B-4231-9ECC-8C3D9481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71712"/>
                </a:solidFill>
              </a:defRPr>
            </a:pPr>
            <a:r>
              <a:rPr sz="975" b="1" i="0">
                <a:solidFill>
                  <a:srgbClr val="171712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D7705-A4C1-49C2-8A40-CB83FA7E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Supplier payment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32D66-43C3-4DDF-8F3C-C7655556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2209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C8CBC3"/>
                </a:solidFill>
              </a:defRPr>
            </a:pPr>
            <a:r>
              <a:rPr sz="1200" b="0" i="0">
                <a:solidFill>
                  <a:srgbClr val="C8CBC3"/>
                </a:solidFill>
              </a:rPr>
              <a:t>Send testnet USDC to the selected supplier.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76A84-266B-4B2F-9D7D-2C870BE6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670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C29FD-2C36-4180-8B24-A9A2E08C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1813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71712"/>
                </a:solidFill>
              </a:defRPr>
            </a:pPr>
            <a:r>
              <a:rPr sz="975" b="1" i="0">
                <a:solidFill>
                  <a:srgbClr val="17171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DA5A0-9E6E-4231-A317-CC2A4C11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905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Minimal escrow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90A894-E47A-4E23-8AF2-60D2229F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14825"/>
            <a:ext cx="2209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C8CBC3"/>
                </a:solidFill>
              </a:defRPr>
            </a:pPr>
            <a:r>
              <a:rPr sz="1200" b="0" i="0">
                <a:solidFill>
                  <a:srgbClr val="C8CBC3"/>
                </a:solidFill>
              </a:rPr>
              <a:t>Lock the order amount in a verified contract.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8B0CFA-71B9-4992-B70D-B8B3C20B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670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EBE21-8E89-428A-B258-C6848A8B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71712"/>
                </a:solidFill>
              </a:defRPr>
            </a:pPr>
            <a:r>
              <a:rPr sz="975" b="1" i="0">
                <a:solidFill>
                  <a:srgbClr val="171712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04894-8A88-4666-A4F6-804AACE1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Delivery release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B6657-D9A6-45A0-8AAA-6C3681AF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14825"/>
            <a:ext cx="2209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C8CBC3"/>
                </a:solidFill>
              </a:defRPr>
            </a:pPr>
            <a:r>
              <a:rPr sz="1200" b="0" i="0">
                <a:solidFill>
                  <a:srgbClr val="C8CBC3"/>
                </a:solidFill>
              </a:rPr>
              <a:t>Buyer confirmation releases funds onchain.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FF6F01-1108-4D56-8167-8E5F36B3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0670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AA9A81-B7E0-450C-A6BF-CEF35944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1813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71712"/>
                </a:solidFill>
              </a:defRPr>
            </a:pPr>
            <a:r>
              <a:rPr sz="975" b="1" i="0">
                <a:solidFill>
                  <a:srgbClr val="171712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4CBC37-B926-4363-BB11-2F1B27D2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905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Refund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6DCC9A-8CBC-4DCA-ABBA-4EE09A6F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314825"/>
            <a:ext cx="2209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C8CBC3"/>
                </a:solidFill>
              </a:defRPr>
            </a:pPr>
            <a:r>
              <a:rPr sz="1200" b="0" i="0">
                <a:solidFill>
                  <a:srgbClr val="C8CBC3"/>
                </a:solidFill>
              </a:rPr>
              <a:t>Cancelled orders return funds with a clear record.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24434e9064aae"/>
          <a:srcRect xmlns:a="http://schemas.openxmlformats.org/drawingml/2006/main" l="0" t="27273" r="0" b="272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5095875"/>
            <a:ext cx="2933700" cy="1000125"/>
          </a:xfrm>
          <a:prstGeom xmlns:a="http://schemas.openxmlformats.org/drawingml/2006/main" prst="roundRect">
            <a:avLst>
              <a:gd name="adj" fmla="val 19048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A87FF1-E6A6-4BAA-936D-6E705821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5334000" cy="6667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4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2B887C-5254-48C3-BC76-0DD6A23F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72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DCEB7B"/>
                </a:solidFill>
              </a:defRPr>
            </a:pPr>
            <a:r>
              <a:rPr sz="1350" b="1" i="0">
                <a:solidFill>
                  <a:srgbClr val="DCEB7B"/>
                </a:solidFill>
              </a:rPr>
              <a:t>Checkpoint 2 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6A6D0B-9056-4F47-A767-47D64DC1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1977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Wallet → USDC proof → receipt → Arcscan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BA4D03-E5B2-4010-8B98-45E86772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C8CBC3"/>
                </a:solidFill>
              </a:defRPr>
            </a:pPr>
            <a:r>
              <a:rPr sz="750" b="1" i="0">
                <a:solidFill>
                  <a:srgbClr val="C8CBC3"/>
                </a:solidFill>
              </a:rPr>
              <a:t>VPORKPAY</a:t>
            </a:r>
            <a:r>
              <a:rPr sz="750" b="1" i="0">
                <a:solidFill>
                  <a:srgbClr val="C8CBC3"/>
                </a:solidFill>
              </a:rPr>
              <a:t> · CHECKPOINT 2 · DEFI TRACK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274128-614E-48DA-9DC0-F230AE00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C8CBC3"/>
                </a:solidFill>
              </a:defRPr>
            </a:pPr>
            <a:r>
              <a:rPr sz="750" b="1" i="0">
                <a:solidFill>
                  <a:srgbClr val="C8CBC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907563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DC62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0cdf3c50244fc"/>
          <a:srcRect xmlns:a="http://schemas.openxmlformats.org/drawingml/2006/main" l="23437" t="0" r="234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2EB99-C1F6-43D5-BE19-0F5B75F5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90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F4CD6-25EB-436A-B631-073E893A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SUBMISSION 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64818-671E-4533-A395-40C3ED91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0" i="0">
                <a:solidFill>
                  <a:srgbClr val="FFFFFF"/>
                </a:solidFill>
              </a:defRPr>
            </a:pPr>
            <a:r>
              <a:rPr sz="4350" b="0" i="0">
                <a:solidFill>
                  <a:srgbClr val="FFFFFF"/>
                </a:solidFill>
              </a:rPr>
              <a:t>Ready for</a:t>
            </a:r>
          </a:p>
          <a:p xmlns:a="http://schemas.openxmlformats.org/drawingml/2006/main">
            <a:pPr algn="l">
              <a:buNone/>
              <a:defRPr sz="4350" b="0" i="0">
                <a:solidFill>
                  <a:srgbClr val="FFFFFF"/>
                </a:solidFill>
              </a:defRPr>
            </a:pPr>
            <a:r>
              <a:rPr sz="4350" b="0" i="0">
                <a:solidFill>
                  <a:srgbClr val="FFFFFF"/>
                </a:solidFill>
              </a:rPr>
              <a:t>DeFi Track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2C577-10BE-42F1-A3C3-62A60293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71712"/>
                </a:solidFill>
              </a:defRPr>
            </a:pPr>
            <a:r>
              <a:rPr sz="1725" b="1" i="0">
                <a:solidFill>
                  <a:srgbClr val="171712"/>
                </a:solidFill>
              </a:rPr>
              <a:t>Buy pork. Pay in USDC. Settle on Arc.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1E0EE-E77D-46B4-9722-9D475445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52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316E3-6686-4AF3-A84E-AE7F8014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71712"/>
                </a:solidFill>
              </a:defRPr>
            </a:pPr>
            <a:r>
              <a:rPr sz="900" b="1" i="0">
                <a:solidFill>
                  <a:srgbClr val="171712"/>
                </a:solidFill>
              </a:rPr>
              <a:t>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4F57B-2D53-4380-AB99-2D7312A6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1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GitHub repository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B96C2-2806-492E-9992-B4280E61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71712"/>
                </a:solidFill>
              </a:defRPr>
            </a:pPr>
            <a:r>
              <a:rPr sz="900" b="1" i="0">
                <a:solidFill>
                  <a:srgbClr val="171712"/>
                </a:solidFill>
              </a:rPr>
              <a:t>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B1F43-3ACE-466D-B78A-88DF6B1C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Live GitHub Pages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E3453-0A9B-4119-833F-F7DCDFAF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71712"/>
                </a:solidFill>
              </a:defRPr>
            </a:pPr>
            <a:r>
              <a:rPr sz="900" b="1" i="0">
                <a:solidFill>
                  <a:srgbClr val="171712"/>
                </a:solidFill>
              </a:rPr>
              <a:t>DECK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B1F36-CAAD-49A3-BB89-7EDBF0C7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625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Web presentation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8547D-35E3-404E-806C-1208D13C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238375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7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42B8D-5748-454F-9EC0-0E34EA15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407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CHECKPOINT 2 · DEFI</a:t>
            </a:r>
          </a:p>
        </p:txBody>
      </p:sp>
    </p:spTree>
    <p:extLst>
      <p:ext uri="{BB962C8B-B14F-4D97-AF65-F5344CB8AC3E}">
        <p14:creationId xmlns:p14="http://schemas.microsoft.com/office/powerpoint/2010/main" val="1470622102"/>
      </p:ext>
    </p:extLst>
  </p:cSld>
</p:sld>
</file>

<file path=ppt/theme/theme1.xml><?xml version="1.0" encoding="utf-8"?>
<a:theme xmlns:a="http://schemas.openxmlformats.org/drawingml/2006/main" name="ChatGPT">
  <a:themeElements>
    <a:clrScheme name="VPorkPay">
      <a:dk1>
        <a:srgbClr val="000000"/>
      </a:dk1>
      <a:lt1>
        <a:srgbClr val="FFFFFF"/>
      </a:lt1>
      <a:dk2>
        <a:srgbClr val="171712"/>
      </a:dk2>
      <a:lt2>
        <a:srgbClr val="DAD6CC"/>
      </a:lt2>
      <a:accent1>
        <a:srgbClr val="DC624C"/>
      </a:accent1>
      <a:accent2>
        <a:srgbClr val="24493B"/>
      </a:accent2>
      <a:accent3>
        <a:srgbClr val="DCEB7B"/>
      </a:accent3>
      <a:accent4>
        <a:srgbClr val="F1B7AA"/>
      </a:accent4>
      <a:accent5>
        <a:srgbClr val="93660C"/>
      </a:accent5>
      <a:accent6>
        <a:srgbClr val="36A174"/>
      </a:accent6>
      <a:hlink>
        <a:srgbClr val="24493B"/>
      </a:hlink>
      <a:folHlink>
        <a:srgbClr val="DC624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VPorkPa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2026-07-27T02:45:00.7430000Z</dcterms:created>
  <dcterms:modified xsi:type="dcterms:W3CDTF">2026-07-27T02:45:00.7430000Z</dcterms:modified>
</coreProperties>
</file>