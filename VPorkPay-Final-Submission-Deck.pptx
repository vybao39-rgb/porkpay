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bfd6e9e2c2d440b" /><Relationship Type="http://schemas.openxmlformats.org/officeDocument/2006/relationships/extended-properties" Target="/docProps/app.xml" Id="R057a42ea6ba2463d" /><Relationship Type="http://schemas.openxmlformats.org/officeDocument/2006/relationships/officeDocument" Target="/ppt/presentation.xml" Id="Rb5053abe211d4b7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c2282a1ce7344dd"/>
  </p:sldMasterIdLst>
  <p:notesMasterIdLst>
    <p:notesMasterId xmlns:r="http://schemas.openxmlformats.org/officeDocument/2006/relationships" r:id="Rd0b91277520743ee"/>
  </p:notesMasterIdLst>
  <p:sldIdLst>
    <p:sldId xmlns:r="http://schemas.openxmlformats.org/officeDocument/2006/relationships" id="256" r:id="R3626f8eb234e40bc"/>
    <p:sldId xmlns:r="http://schemas.openxmlformats.org/officeDocument/2006/relationships" id="257" r:id="Re01a008f29374279"/>
    <p:sldId xmlns:r="http://schemas.openxmlformats.org/officeDocument/2006/relationships" id="258" r:id="R2095240aa3b34aa9"/>
    <p:sldId xmlns:r="http://schemas.openxmlformats.org/officeDocument/2006/relationships" id="259" r:id="R98068efc47374114"/>
    <p:sldId xmlns:r="http://schemas.openxmlformats.org/officeDocument/2006/relationships" id="260" r:id="R9695cdc18fe444c2"/>
    <p:sldId xmlns:r="http://schemas.openxmlformats.org/officeDocument/2006/relationships" id="261" r:id="R3e2af4a938f4451b"/>
    <p:sldId xmlns:r="http://schemas.openxmlformats.org/officeDocument/2006/relationships" id="262" r:id="Rf7d2dff85c1e4645"/>
    <p:sldId xmlns:r="http://schemas.openxmlformats.org/officeDocument/2006/relationships" id="263" r:id="Ra8d5c6b61d7442e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f9dae3e6cce4506" /><Relationship Type="http://schemas.openxmlformats.org/officeDocument/2006/relationships/slideMaster" Target="/ppt/slideMasters/slideMaster1.xml" Id="Rcc2282a1ce7344dd" /><Relationship Type="http://schemas.openxmlformats.org/officeDocument/2006/relationships/notesMaster" Target="/ppt/notesMasters/notesMaster1.xml" Id="Rd0b91277520743ee" /><Relationship Type="http://schemas.openxmlformats.org/officeDocument/2006/relationships/presProps" Target="/ppt/presProps.xml" Id="R43e157b7ae674b0e" /><Relationship Type="http://schemas.openxmlformats.org/officeDocument/2006/relationships/tableStyles" Target="/ppt/tableStyles.xml" Id="R3f324ffb4806480c" /><Relationship Type="http://schemas.openxmlformats.org/officeDocument/2006/relationships/slide" Target="/ppt/slides/slide1.xml" Id="R3626f8eb234e40bc" /><Relationship Type="http://schemas.openxmlformats.org/officeDocument/2006/relationships/slide" Target="/ppt/slides/slide2.xml" Id="Re01a008f29374279" /><Relationship Type="http://schemas.openxmlformats.org/officeDocument/2006/relationships/slide" Target="/ppt/slides/slide3.xml" Id="R2095240aa3b34aa9" /><Relationship Type="http://schemas.openxmlformats.org/officeDocument/2006/relationships/slide" Target="/ppt/slides/slide4.xml" Id="R98068efc47374114" /><Relationship Type="http://schemas.openxmlformats.org/officeDocument/2006/relationships/slide" Target="/ppt/slides/slide5.xml" Id="R9695cdc18fe444c2" /><Relationship Type="http://schemas.openxmlformats.org/officeDocument/2006/relationships/slide" Target="/ppt/slides/slide6.xml" Id="R3e2af4a938f4451b" /><Relationship Type="http://schemas.openxmlformats.org/officeDocument/2006/relationships/slide" Target="/ppt/slides/slide7.xml" Id="Rf7d2dff85c1e4645" /><Relationship Type="http://schemas.openxmlformats.org/officeDocument/2006/relationships/slide" Target="/ppt/slides/slide8.xml" Id="Ra8d5c6b61d7442e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de5101dcb9d4e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VPorkPay">
      <a:dk1>
        <a:srgbClr val="000000"/>
      </a:dk1>
      <a:lt1>
        <a:srgbClr val="FFFFFF"/>
      </a:lt1>
      <a:dk2>
        <a:srgbClr val="171712"/>
      </a:dk2>
      <a:lt2>
        <a:srgbClr val="DAD6CC"/>
      </a:lt2>
      <a:accent1>
        <a:srgbClr val="DC624C"/>
      </a:accent1>
      <a:accent2>
        <a:srgbClr val="24493B"/>
      </a:accent2>
      <a:accent3>
        <a:srgbClr val="DCEB7B"/>
      </a:accent3>
      <a:accent4>
        <a:srgbClr val="F1B7AA"/>
      </a:accent4>
      <a:accent5>
        <a:srgbClr val="93660C"/>
      </a:accent5>
      <a:accent6>
        <a:srgbClr val="36A174"/>
      </a:accent6>
      <a:hlink>
        <a:srgbClr val="24493B"/>
      </a:hlink>
      <a:folHlink>
        <a:srgbClr val="DC624C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VPorkPa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8e58d1b0054e07" /><Relationship Type="http://schemas.openxmlformats.org/officeDocument/2006/relationships/notesMaster" Target="/ppt/notesMasters/notesMaster1.xml" Id="R45a5be24dea1439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c5b116069d84647" /><Relationship Type="http://schemas.openxmlformats.org/officeDocument/2006/relationships/notesMaster" Target="/ppt/notesMasters/notesMaster1.xml" Id="Rb26d17a435e1428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1a7973624e54f58" /><Relationship Type="http://schemas.openxmlformats.org/officeDocument/2006/relationships/notesMaster" Target="/ppt/notesMasters/notesMaster1.xml" Id="Rbc47da67723049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699d971437d4002" /><Relationship Type="http://schemas.openxmlformats.org/officeDocument/2006/relationships/notesMaster" Target="/ppt/notesMasters/notesMaster1.xml" Id="Ra2d27a44e0544b9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4dc6fbc3867479d" /><Relationship Type="http://schemas.openxmlformats.org/officeDocument/2006/relationships/notesMaster" Target="/ppt/notesMasters/notesMaster1.xml" Id="Rb20043e0106041f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043ab28e2414354" /><Relationship Type="http://schemas.openxmlformats.org/officeDocument/2006/relationships/notesMaster" Target="/ppt/notesMasters/notesMaster1.xml" Id="R73542d7897e5476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277c345ac674835" /><Relationship Type="http://schemas.openxmlformats.org/officeDocument/2006/relationships/notesMaster" Target="/ppt/notesMasters/notesMaster1.xml" Id="Re2b48433076e487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a69800f07e14ca4" /><Relationship Type="http://schemas.openxmlformats.org/officeDocument/2006/relationships/notesMaster" Target="/ppt/notesMasters/notesMaster1.xml" Id="R75e331bd4dd9462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product promise: buy pork, request store credit, and repay in test USDC.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https://github.com/vybao39-rgb/porkpay</a:t>
            </a:r>
          </a:p>
          <a:p xmlns:a="http://schemas.openxmlformats.org/drawingml/2006/main">
            <a:r>
              <a:t>- Project product imagery: AI-generated assets in the VPorkPay repository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problem statement: https://github.com/vybao39-rgb/porkpay#the-problem</a:t>
            </a:r>
          </a:p>
          <a:p xmlns:a="http://schemas.openxmlformats.org/drawingml/2006/main">
            <a:r>
              <a:t>- Project product imagery: AI-generated assets in the VPorkPay repository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narrow user journey from marketplace discovery to merchant-approved working capital.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https://vybao39-rgb.github.io/porkpay/</a:t>
            </a:r>
          </a:p>
          <a:p xmlns:a="http://schemas.openxmlformats.org/drawingml/2006/main">
            <a:r>
              <a:t>- https://github.com/vybao39-rgb/porkpay</a:t>
            </a:r>
          </a:p>
          <a:p xmlns:a="http://schemas.openxmlformats.org/drawingml/2006/main">
            <a:r>
              <a:t>- Screenshot captured from the public VPorkPay GitHub Pages MVP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 browser verifies the versioned contract before any credit action. A buyer request is pending until the merchant signs openDebt.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https://github.com/vybao39-rgb/porkpay/blob/main/contracts/VPorkPayStoreCredit.sol</a:t>
            </a:r>
          </a:p>
          <a:p xmlns:a="http://schemas.openxmlformats.org/drawingml/2006/main">
            <a:r>
              <a:t>- https://developers.circle.com/stablecoins/usdc-contract-addresses</a:t>
            </a:r>
          </a:p>
          <a:p xmlns:a="http://schemas.openxmlformats.org/drawingml/2006/main">
            <a:r>
              <a:t>- https://docs.arc.io/arc/tutorials/deploy-contracts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https://docs.arc.io/arc-chain</a:t>
            </a:r>
          </a:p>
          <a:p xmlns:a="http://schemas.openxmlformats.org/drawingml/2006/main">
            <a:r>
              <a:t>- https://docs.arc.io/arc/concepts/stablecoin-native-model</a:t>
            </a:r>
          </a:p>
          <a:p xmlns:a="http://schemas.openxmlformats.org/drawingml/2006/main">
            <a:r>
              <a:t>- https://docs.arc.io/arc/references/rpc-endpoints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 through the trust boundaries. Emphasize non-custodial signatures and contract-authoritative debt state.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https://github.com/vybao39-rgb/porkpay/blob/main/index.html</a:t>
            </a:r>
          </a:p>
          <a:p xmlns:a="http://schemas.openxmlformats.org/drawingml/2006/main">
            <a:r>
              <a:t>- https://docs.arc.io/arc/references/rpc-endpoints</a:t>
            </a:r>
          </a:p>
          <a:p xmlns:a="http://schemas.openxmlformats.org/drawingml/2006/main">
            <a:r>
              <a:t>- https://developers.circle.com/stablecoins/usdc-contract-addresses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who signs each step and why no debt exists before merchant approval.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https://github.com/vybao39-rgb/porkpay/blob/main/contracts/VPorkPayStoreCredit.sol</a:t>
            </a:r>
          </a:p>
          <a:p xmlns:a="http://schemas.openxmlformats.org/drawingml/2006/main">
            <a:r>
              <a:t>- https://github.com/vybao39-rgb/porkpay/blob/main/contracts/test/VPorkPayStoreCredit.test.cjs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public artifacts only. Do not claim mainnet readiness; this is an unaudited Arc Testnet MVP.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https://github.com/vybao39-rgb/porkpay</a:t>
            </a:r>
          </a:p>
          <a:p xmlns:a="http://schemas.openxmlformats.org/drawingml/2006/main">
            <a:r>
              <a:t>- https://vybao39-rgb.github.io/porkpay/</a:t>
            </a:r>
          </a:p>
          <a:p xmlns:a="http://schemas.openxmlformats.org/drawingml/2006/main">
            <a:r>
              <a:t>- https://vybao39-rgb.github.io/porkpay/presentation.html</a:t>
            </a:r>
          </a:p>
          <a:p xmlns:a="http://schemas.openxmlformats.org/drawingml/2006/main">
            <a:r>
              <a:t>- Project product imagery: AI-generated assets in the VPorkPay repository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fbfa527e9f404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f8be4ef9a8a49aa" /><Relationship Type="http://schemas.openxmlformats.org/officeDocument/2006/relationships/slideLayout" Target="/ppt/slideLayouts/slideLayout1.xml" Id="R7da24e5332fa4f0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da24e5332fa4f0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VPorkPay">
      <a:dk1>
        <a:srgbClr val="000000"/>
      </a:dk1>
      <a:lt1>
        <a:srgbClr val="FFFFFF"/>
      </a:lt1>
      <a:dk2>
        <a:srgbClr val="171712"/>
      </a:dk2>
      <a:lt2>
        <a:srgbClr val="DAD6CC"/>
      </a:lt2>
      <a:accent1>
        <a:srgbClr val="DC624C"/>
      </a:accent1>
      <a:accent2>
        <a:srgbClr val="24493B"/>
      </a:accent2>
      <a:accent3>
        <a:srgbClr val="DCEB7B"/>
      </a:accent3>
      <a:accent4>
        <a:srgbClr val="F1B7AA"/>
      </a:accent4>
      <a:accent5>
        <a:srgbClr val="93660C"/>
      </a:accent5>
      <a:accent6>
        <a:srgbClr val="36A174"/>
      </a:accent6>
      <a:hlink>
        <a:srgbClr val="24493B"/>
      </a:hlink>
      <a:folHlink>
        <a:srgbClr val="DC624C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VPorkPa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48af55a8b544bd" /><Relationship Type="http://schemas.openxmlformats.org/officeDocument/2006/relationships/image" Target="/ppt/media/image.jpeg" Id="R0d87e398957e4d8c" /><Relationship Type="http://schemas.openxmlformats.org/officeDocument/2006/relationships/image" Target="/ppt/media/image2.jpeg" Id="Rd402088505b4425e" /><Relationship Type="http://schemas.openxmlformats.org/officeDocument/2006/relationships/notesSlide" Target="/ppt/notesSlides/notesSlide1.xml" Id="R81cba012b2ca4fa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0ae4e6993c48b9" /><Relationship Type="http://schemas.openxmlformats.org/officeDocument/2006/relationships/image" Target="/ppt/media/image3.jpeg" Id="R86e452b214334ccd" /><Relationship Type="http://schemas.openxmlformats.org/officeDocument/2006/relationships/image" Target="/ppt/media/image4.jpeg" Id="Rc7671f4c4634439d" /><Relationship Type="http://schemas.openxmlformats.org/officeDocument/2006/relationships/notesSlide" Target="/ppt/notesSlides/notesSlide2.xml" Id="Re842eb8bfdd749b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d75e7fa84145be" /><Relationship Type="http://schemas.openxmlformats.org/officeDocument/2006/relationships/image" Target="/ppt/media/image5.jpeg" Id="R4727a63acd8c4ff4" /><Relationship Type="http://schemas.openxmlformats.org/officeDocument/2006/relationships/notesSlide" Target="/ppt/notesSlides/notesSlide3.xml" Id="Rf8d9ded9f02f497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c05fb0e3de4049" /><Relationship Type="http://schemas.openxmlformats.org/officeDocument/2006/relationships/image" Target="/ppt/media/image6.jpeg" Id="R2415314f2dce43a1" /><Relationship Type="http://schemas.openxmlformats.org/officeDocument/2006/relationships/notesSlide" Target="/ppt/notesSlides/notesSlide4.xml" Id="R6df4b6500bb7479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e689ba51cd4f8a" /><Relationship Type="http://schemas.openxmlformats.org/officeDocument/2006/relationships/notesSlide" Target="/ppt/notesSlides/notesSlide5.xml" Id="Re9b67189f7c1452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221390b307414a" /><Relationship Type="http://schemas.openxmlformats.org/officeDocument/2006/relationships/notesSlide" Target="/ppt/notesSlides/notesSlide6.xml" Id="R9f66d5971a26498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b19b0c3fae4eca" /><Relationship Type="http://schemas.openxmlformats.org/officeDocument/2006/relationships/image" Target="/ppt/media/image7.jpeg" Id="Ra4ad145752de412e" /><Relationship Type="http://schemas.openxmlformats.org/officeDocument/2006/relationships/notesSlide" Target="/ppt/notesSlides/notesSlide7.xml" Id="Rf1d537e483264ae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54b48601c84b5c" /><Relationship Type="http://schemas.openxmlformats.org/officeDocument/2006/relationships/image" Target="/ppt/media/image8.jpeg" Id="R8a35be46e96b4b06" /><Relationship Type="http://schemas.openxmlformats.org/officeDocument/2006/relationships/hyperlink" Target="https://github.com/vybao39-rgb/porkpay" TargetMode="External" Id="R4b26d8b6c13a41fa" /><Relationship Type="http://schemas.openxmlformats.org/officeDocument/2006/relationships/hyperlink" Target="https://vybao39-rgb.github.io/porkpay/" TargetMode="External" Id="Ra4dab72528344d90" /><Relationship Type="http://schemas.openxmlformats.org/officeDocument/2006/relationships/hyperlink" Target="https://vybao39-rgb.github.io/porkpay/presentation.html" TargetMode="External" Id="Rcd26c63924ed4cd2" /><Relationship Type="http://schemas.openxmlformats.org/officeDocument/2006/relationships/notesSlide" Target="/ppt/notesSlides/notesSlide8.xml" Id="R2317fb480f4141d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C81133-C788-4E4E-9504-E81B07D6F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0"/>
            <a:ext cx="4667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87e398957e4d8c"/>
          <a:srcRect xmlns:a="http://schemas.openxmlformats.org/drawingml/2006/main" l="90" t="0" r="9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05750" y="904875"/>
            <a:ext cx="3524250" cy="2647950"/>
          </a:xfrm>
          <a:prstGeom xmlns:a="http://schemas.openxmlformats.org/drawingml/2006/main" prst="roundRect">
            <a:avLst>
              <a:gd name="adj" fmla="val 10791"/>
            </a:avLst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02088505b4425e"/>
          <a:srcRect xmlns:a="http://schemas.openxmlformats.org/drawingml/2006/main" l="0" t="10317" r="0" b="103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0" y="3762375"/>
            <a:ext cx="4000500" cy="2381250"/>
          </a:xfrm>
          <a:prstGeom xmlns:a="http://schemas.openxmlformats.org/drawingml/2006/main" prst="roundRect">
            <a:avLst>
              <a:gd name="adj" fmla="val 1200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833EA5-AEFD-4820-8EA0-7CD4AA7C7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788214-22FC-4977-82A4-FC0C02A0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EA29AD-4B0E-4B2B-BC1B-F4C3F08D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7620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24493B"/>
                </a:solidFill>
              </a:defRPr>
            </a:pPr>
            <a:r>
              <a:rPr sz="975" b="1" i="0">
                <a:solidFill>
                  <a:srgbClr val="24493B"/>
                </a:solidFill>
              </a:rPr>
              <a:t>BUILD ON ARC 2026 · FINAL SUBMISSION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536407-F0DF-4BF3-A279-4C71D1EE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810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400" b="0" i="0">
                <a:solidFill>
                  <a:srgbClr val="171712"/>
                </a:solidFill>
              </a:defRPr>
            </a:pPr>
            <a:r>
              <a:rPr sz="5400" b="0" i="0">
                <a:solidFill>
                  <a:srgbClr val="171712"/>
                </a:solidFill>
              </a:rPr>
              <a:t>VPorkPay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4854A2-2A82-4C2C-8A87-EF7FEEB9E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590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200" b="0" i="1">
                <a:solidFill>
                  <a:srgbClr val="DC624C"/>
                </a:solidFill>
              </a:defRPr>
            </a:pPr>
            <a:r>
              <a:rPr sz="4200" b="0" i="1">
                <a:solidFill>
                  <a:srgbClr val="DC624C"/>
                </a:solidFill>
              </a:rPr>
              <a:t>Source better.</a:t>
            </a:r>
          </a:p>
          <a:p xmlns:a="http://schemas.openxmlformats.org/drawingml/2006/main">
            <a:pPr algn="l">
              <a:buNone/>
              <a:defRPr sz="4200" b="0" i="1">
                <a:solidFill>
                  <a:srgbClr val="DC624C"/>
                </a:solidFill>
              </a:defRPr>
            </a:pPr>
            <a:r>
              <a:rPr sz="4200" b="0" i="1">
                <a:solidFill>
                  <a:srgbClr val="DC624C"/>
                </a:solidFill>
              </a:rPr>
              <a:t>Finance smarter.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7A6D5F-C8DB-48AA-B3AE-0BD9EDF5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561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B6F66"/>
                </a:solidFill>
              </a:defRPr>
            </a:pPr>
            <a:r>
              <a:rPr sz="1725" b="0" i="0">
                <a:solidFill>
                  <a:srgbClr val="6B6F66"/>
                </a:solidFill>
              </a:rPr>
              <a:t>A USDC-native pork marketplace with merchant-approved onchain store credit on Arc.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4C3AF3-A32B-4ED7-BA7C-6FFEA68F9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57875"/>
            <a:ext cx="25717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49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050541-E31E-43E6-BFF9-AEC0C004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17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FFFFFF"/>
                </a:solidFill>
              </a:defRPr>
            </a:pPr>
            <a:r>
              <a:rPr sz="900" b="1" i="0">
                <a:solidFill>
                  <a:srgbClr val="FFFFFF"/>
                </a:solidFill>
              </a:rPr>
              <a:t>DEFI TRACK · FUNCTIONAL MVP</a:t>
            </a:r>
          </a:p>
        </p:txBody>
      </p:sp>
    </p:spTree>
    <p:extLst>
      <p:ext uri="{BB962C8B-B14F-4D97-AF65-F5344CB8AC3E}">
        <p14:creationId xmlns:p14="http://schemas.microsoft.com/office/powerpoint/2010/main" val="14664660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328B53-39E0-4972-A2F5-E4FBE9AB1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DC624C"/>
                </a:solidFill>
              </a:defRPr>
            </a:pPr>
            <a:r>
              <a:rPr sz="975" b="1" i="0">
                <a:solidFill>
                  <a:srgbClr val="DC624C"/>
                </a:solidFill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0454BD-660A-4081-B557-57A0B41F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8667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300" b="0" i="0">
                <a:solidFill>
                  <a:srgbClr val="171712"/>
                </a:solidFill>
              </a:defRPr>
            </a:pPr>
            <a:r>
              <a:rPr sz="3300" b="0" i="0">
                <a:solidFill>
                  <a:srgbClr val="171712"/>
                </a:solidFill>
              </a:rPr>
              <a:t>Pork trade still runs on fragmented coordination.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0721A-ACF5-47A1-8DA2-EA840CAA9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716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C624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A92BB2-6E4A-4355-9766-7FABCA145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384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661F9A-C626-4745-ABD5-B6A63EE6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4067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71712"/>
                </a:solidFill>
              </a:defRPr>
            </a:pPr>
            <a:r>
              <a:rPr sz="1650" b="1" i="0">
                <a:solidFill>
                  <a:srgbClr val="171712"/>
                </a:solidFill>
              </a:rPr>
              <a:t>Prices are hard to compare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26A076-36F9-4D33-B44C-DE4EFA19D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05100"/>
            <a:ext cx="40671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B6F66"/>
                </a:solidFill>
              </a:defRPr>
            </a:pPr>
            <a:r>
              <a:rPr sz="1275" b="0" i="0">
                <a:solidFill>
                  <a:srgbClr val="6B6F66"/>
                </a:solidFill>
              </a:rPr>
              <a:t>Buyers discover offers across disconnected messages and spreadsheets.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890CBC-6CAE-4342-8BF4-FE0FDA397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337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0FE2BD-0079-4122-A9E3-39565507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76625"/>
            <a:ext cx="4067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71712"/>
                </a:solidFill>
              </a:defRPr>
            </a:pPr>
            <a:r>
              <a:rPr sz="1650" b="1" i="0">
                <a:solidFill>
                  <a:srgbClr val="171712"/>
                </a:solidFill>
              </a:rPr>
              <a:t>Settlement is slow to verify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1680B8-5281-47CB-85FC-00D1D10D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00475"/>
            <a:ext cx="40671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B6F66"/>
                </a:solidFill>
              </a:defRPr>
            </a:pPr>
            <a:r>
              <a:rPr sz="1275" b="0" i="0">
                <a:solidFill>
                  <a:srgbClr val="6B6F66"/>
                </a:solidFill>
              </a:rPr>
              <a:t>Cash and bank transfers separate payment confirmation from the order record.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DFF30-2944-4451-8A92-831B35C7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10E08C-8EA3-41E4-8745-6CF252B8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72000"/>
            <a:ext cx="4067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71712"/>
                </a:solidFill>
              </a:defRPr>
            </a:pPr>
            <a:r>
              <a:rPr sz="1650" b="1" i="0">
                <a:solidFill>
                  <a:srgbClr val="171712"/>
                </a:solidFill>
              </a:rPr>
              <a:t>Delivery has no shared state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78DDEE-BC23-4305-A4B2-8D8F406DA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95850"/>
            <a:ext cx="40671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B6F66"/>
                </a:solidFill>
              </a:defRPr>
            </a:pPr>
            <a:r>
              <a:rPr sz="1275" b="0" i="0">
                <a:solidFill>
                  <a:srgbClr val="6B6F66"/>
                </a:solidFill>
              </a:rPr>
              <a:t>Buyer and supplier lack one timeline for payment, fulfilment and settlement.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e452b214334ccd"/>
          <a:srcRect xmlns:a="http://schemas.openxmlformats.org/drawingml/2006/main" l="25000" t="0" r="250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2750" y="2381250"/>
            <a:ext cx="2095500" cy="3143250"/>
          </a:xfrm>
          <a:prstGeom xmlns:a="http://schemas.openxmlformats.org/drawingml/2006/main" prst="roundRect">
            <a:avLst>
              <a:gd name="adj" fmla="val 12727"/>
            </a:avLst>
          </a:prstGeom>
        </p:spPr>
      </p:pic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671f4c4634439d"/>
          <a:srcRect xmlns:a="http://schemas.openxmlformats.org/drawingml/2006/main" l="20682" t="0" r="2068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048750" y="2381250"/>
            <a:ext cx="2457450" cy="3143250"/>
          </a:xfrm>
          <a:prstGeom xmlns:a="http://schemas.openxmlformats.org/drawingml/2006/main" prst="roundRect">
            <a:avLst>
              <a:gd name="adj" fmla="val 10853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DD09F9-6BB7-42F3-9AAD-2F4C47EF7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667375"/>
            <a:ext cx="47434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2449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2A5664-D770-4B6A-8E2F-1BF2FE02F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810250"/>
            <a:ext cx="436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One USDC-denominated commerce record.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61EF58-269E-4A88-876B-AC371EA8A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85887F"/>
                </a:solidFill>
              </a:defRPr>
            </a:pPr>
            <a:r>
              <a:rPr sz="750" b="1" i="0">
                <a:solidFill>
                  <a:srgbClr val="85887F"/>
                </a:solidFill>
              </a:rPr>
              <a:t>VPORKPAY · FINAL SUBMISSION · DEFI TRACK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FF301C-3143-4034-8D9B-7AD00C7B1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85887F"/>
                </a:solidFill>
              </a:defRPr>
            </a:pPr>
            <a:r>
              <a:rPr sz="750" b="1" i="0">
                <a:solidFill>
                  <a:srgbClr val="85887F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681443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43303B-1C82-4A0B-BB15-EC4CDDDFA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DC624C"/>
                </a:solidFill>
              </a:defRPr>
            </a:pPr>
            <a:r>
              <a:rPr sz="975" b="1" i="0">
                <a:solidFill>
                  <a:srgbClr val="DC624C"/>
                </a:solidFill>
              </a:rPr>
              <a:t>THE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4DF813-D64B-4A8F-A5DF-146F472A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96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0" i="0">
                <a:solidFill>
                  <a:srgbClr val="171712"/>
                </a:solidFill>
              </a:defRPr>
            </a:pPr>
            <a:r>
              <a:rPr sz="3150" b="0" i="0">
                <a:solidFill>
                  <a:srgbClr val="171712"/>
                </a:solidFill>
              </a:rPr>
              <a:t>One flow connects discovery, ordering and working capital.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402408-9452-4181-844E-54F9DD35C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57375"/>
            <a:ext cx="4933950" cy="39052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AD6C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27a63acd8c4ff4"/>
          <a:srcRect xmlns:a="http://schemas.openxmlformats.org/drawingml/2006/main" l="9628" t="0" r="962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762750" y="2047875"/>
            <a:ext cx="4552950" cy="3524250"/>
          </a:xfrm>
          <a:prstGeom xmlns:a="http://schemas.openxmlformats.org/drawingml/2006/main" prst="round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6D8689-9C67-4059-9F80-08A413773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60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0" i="0">
                <a:solidFill>
                  <a:srgbClr val="DC624C"/>
                </a:solidFill>
              </a:defRPr>
            </a:pPr>
            <a:r>
              <a:rPr sz="2550" b="0" i="0">
                <a:solidFill>
                  <a:srgbClr val="DC624C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006965-B674-447C-BE8C-625A5389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1455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71712"/>
                </a:solidFill>
              </a:defRPr>
            </a:pPr>
            <a:r>
              <a:rPr sz="1725" b="1" i="0">
                <a:solidFill>
                  <a:srgbClr val="171712"/>
                </a:solidFill>
              </a:rPr>
              <a:t>Discover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BB886C-0C23-47E1-AF00-154C9E80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95550"/>
            <a:ext cx="419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B6F66"/>
                </a:solidFill>
              </a:defRPr>
            </a:pPr>
            <a:r>
              <a:rPr sz="1275" b="0" i="0">
                <a:solidFill>
                  <a:srgbClr val="6B6F66"/>
                </a:solidFill>
              </a:rPr>
              <a:t>Compare verified suppliers, cuts and USDC prices.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CD35C8-5DF1-4714-BC65-BF532DC05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24200"/>
            <a:ext cx="409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6C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F697D7-4270-4456-BD46-03AA9E53A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60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0" i="0">
                <a:solidFill>
                  <a:srgbClr val="DC624C"/>
                </a:solidFill>
              </a:defRPr>
            </a:pPr>
            <a:r>
              <a:rPr sz="2550" b="0" i="0">
                <a:solidFill>
                  <a:srgbClr val="DC624C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FB66F2-E80C-4A09-B722-16CF7ED2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7185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71712"/>
                </a:solidFill>
              </a:defRPr>
            </a:pPr>
            <a:r>
              <a:rPr sz="1725" b="1" i="0">
                <a:solidFill>
                  <a:srgbClr val="171712"/>
                </a:solidFill>
              </a:rPr>
              <a:t>Order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CA83C7-C08B-4086-B17F-43C10584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52850"/>
            <a:ext cx="419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B6F66"/>
                </a:solidFill>
              </a:defRPr>
            </a:pPr>
            <a:r>
              <a:rPr sz="1275" b="0" i="0">
                <a:solidFill>
                  <a:srgbClr val="6B6F66"/>
                </a:solidFill>
              </a:rPr>
              <a:t>Build a cart and capture delivery details.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B7355C-82AD-4720-934A-B42E10023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409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6C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9A2BC4-6F0E-4F5B-9E39-EA7E79B6B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60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0" i="0">
                <a:solidFill>
                  <a:srgbClr val="DC624C"/>
                </a:solidFill>
              </a:defRPr>
            </a:pPr>
            <a:r>
              <a:rPr sz="2550" b="0" i="0">
                <a:solidFill>
                  <a:srgbClr val="DC624C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EBDC19-A524-4AF2-89CB-B5C6853A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71712"/>
                </a:solidFill>
              </a:defRPr>
            </a:pPr>
            <a:r>
              <a:rPr sz="1725" b="1" i="0">
                <a:solidFill>
                  <a:srgbClr val="171712"/>
                </a:solidFill>
              </a:rPr>
              <a:t>Finance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8E001F-F8A6-4519-86CE-75C0249E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10150"/>
            <a:ext cx="419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B6F66"/>
                </a:solidFill>
              </a:defRPr>
            </a:pPr>
            <a:r>
              <a:rPr sz="1275" b="0" i="0">
                <a:solidFill>
                  <a:srgbClr val="6B6F66"/>
                </a:solidFill>
              </a:rPr>
              <a:t>Pay with test USDC or request merchant-approved onchain credit.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EF596B-D805-4EA8-83E7-B86FDC4FD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5048250" cy="342900"/>
          </a:xfrm>
          <a:prstGeom xmlns:a="http://schemas.openxmlformats.org/drawingml/2006/main" prst="roundRect">
            <a:avLst>
              <a:gd name="adj" fmla="val 27778"/>
            </a:avLst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4457C8-79AE-4225-A573-29DDD8106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29325"/>
            <a:ext cx="466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4493B"/>
                </a:solidFill>
              </a:defRPr>
            </a:pPr>
            <a:r>
              <a:rPr sz="1050" b="1" i="0">
                <a:solidFill>
                  <a:srgbClr val="24493B"/>
                </a:solidFill>
              </a:rPr>
              <a:t>Functional Arc Testnet MVP · no custodial keys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C3D287-0CAC-41B3-9A5C-42A574E62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85887F"/>
                </a:solidFill>
              </a:defRPr>
            </a:pPr>
            <a:r>
              <a:rPr sz="750" b="1" i="0">
                <a:solidFill>
                  <a:srgbClr val="85887F"/>
                </a:solidFill>
              </a:rPr>
              <a:t>VPORKPAY · FINAL SUBMISSION · DEFI TRACK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377D6C-52CA-4937-ABBB-BEAC985D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85887F"/>
                </a:solidFill>
              </a:defRPr>
            </a:pPr>
            <a:r>
              <a:rPr sz="750" b="1" i="0">
                <a:solidFill>
                  <a:srgbClr val="85887F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14142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717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EB59EC-CC82-428F-B683-3937B1FB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DCEB7B"/>
                </a:solidFill>
              </a:defRPr>
            </a:pPr>
            <a:r>
              <a:rPr sz="975" b="1" i="0">
                <a:solidFill>
                  <a:srgbClr val="DCEB7B"/>
                </a:solidFill>
              </a:rPr>
              <a:t>FUNCTIONAL MVP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B7646E-6081-46B4-86F3-21DD3C52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00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0" i="0">
                <a:solidFill>
                  <a:srgbClr val="FFFFFF"/>
                </a:solidFill>
              </a:defRPr>
            </a:pPr>
            <a:r>
              <a:rPr sz="3150" b="0" i="0">
                <a:solidFill>
                  <a:srgbClr val="FFFFFF"/>
                </a:solidFill>
              </a:rPr>
              <a:t>The browser verifies and operates the credit contract.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8F12D4-02E6-4C9F-9428-8E79183D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6324600" cy="39052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FFFDF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15314f2dce43a1"/>
          <a:srcRect xmlns:a="http://schemas.openxmlformats.org/drawingml/2006/main" l="0" t="2357" r="0" b="23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57250" y="2057400"/>
            <a:ext cx="5981700" cy="3562350"/>
          </a:xfrm>
          <a:prstGeom xmlns:a="http://schemas.openxmlformats.org/drawingml/2006/main" prst="round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6C98F1-3353-4AE6-946C-F8750A82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990725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BB9F0A-AF94-4323-AAD5-82484D73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0002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1712"/>
                </a:solidFill>
              </a:defRPr>
            </a:pPr>
            <a:r>
              <a:rPr sz="1050" b="1" i="0">
                <a:solidFill>
                  <a:srgbClr val="171712"/>
                </a:solidFill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3DF1D0-B4B0-4C76-8799-DE7CDA2D7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526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FFFFFF"/>
                </a:solidFill>
              </a:defRPr>
            </a:pPr>
            <a:r>
              <a:rPr sz="1500" b="1" i="0">
                <a:solidFill>
                  <a:srgbClr val="FFFFFF"/>
                </a:solidFill>
              </a:rPr>
              <a:t>Verify before trust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7F4273-3FC5-4090-997C-6F6FD0A45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47900"/>
            <a:ext cx="3381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C8CBC3"/>
                </a:solidFill>
              </a:defRPr>
            </a:pPr>
            <a:r>
              <a:rPr sz="1125" b="0" i="0">
                <a:solidFill>
                  <a:srgbClr val="C8CBC3"/>
                </a:solidFill>
              </a:rPr>
              <a:t>Check contract ID, merchant and official Arc Testnet USDC.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A4D3A4-71B5-46AB-B93A-822216B39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905125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BBF3B2-9DDF-4B92-9313-527D6A09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9146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1712"/>
                </a:solidFill>
              </a:defRPr>
            </a:pPr>
            <a:r>
              <a:rPr sz="1050" b="1" i="0">
                <a:solidFill>
                  <a:srgbClr val="171712"/>
                </a:solidFill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2DC298-D6D7-46C1-9137-75FF142FB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670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FFFFFF"/>
                </a:solidFill>
              </a:defRPr>
            </a:pPr>
            <a:r>
              <a:rPr sz="1500" b="1" i="0">
                <a:solidFill>
                  <a:srgbClr val="FFFFFF"/>
                </a:solidFill>
              </a:rPr>
              <a:t>Merchant-approved debt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16F8A7-7432-43D8-B6F6-626DB9C3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62300"/>
            <a:ext cx="3381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C8CBC3"/>
                </a:solidFill>
              </a:defRPr>
            </a:pPr>
            <a:r>
              <a:rPr sz="1125" b="0" i="0">
                <a:solidFill>
                  <a:srgbClr val="C8CBC3"/>
                </a:solidFill>
              </a:rPr>
              <a:t>A request creates no debt until the shop owner signs openDebt.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7E608C-7F27-4569-AB1E-88CBB445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819525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921FE5-32BE-4444-A7A1-BF299AA1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8290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1712"/>
                </a:solidFill>
              </a:defRPr>
            </a:pPr>
            <a:r>
              <a:rPr sz="1050" b="1" i="0">
                <a:solidFill>
                  <a:srgbClr val="171712"/>
                </a:solidFill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36BD49-7241-4395-B2A7-7F9E0069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814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FFFFFF"/>
                </a:solidFill>
              </a:defRPr>
            </a:pPr>
            <a:r>
              <a:rPr sz="1500" b="1" i="0">
                <a:solidFill>
                  <a:srgbClr val="FFFFFF"/>
                </a:solidFill>
              </a:rPr>
              <a:t>Price-linked interest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1D3930-7BC1-4D44-97AC-EF7A44EC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76700"/>
            <a:ext cx="3381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C8CBC3"/>
                </a:solidFill>
              </a:defRPr>
            </a:pPr>
            <a:r>
              <a:rPr sz="1125" b="0" i="0">
                <a:solidFill>
                  <a:srgbClr val="C8CBC3"/>
                </a:solidFill>
              </a:rPr>
              <a:t>APR fixes at opening; amount due accrues from Arc block time.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0CD57E-4450-4FDC-9C08-C5BFCC0C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733925"/>
            <a:ext cx="228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B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7B842B-0431-4FA6-8CA0-F587E0B37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74345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1712"/>
                </a:solidFill>
              </a:defRPr>
            </a:pPr>
            <a:r>
              <a:rPr sz="1050" b="1" i="0">
                <a:solidFill>
                  <a:srgbClr val="171712"/>
                </a:solidFill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C08B17-79C5-4C1A-B5EE-918982562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958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FFFFFF"/>
                </a:solidFill>
              </a:defRPr>
            </a:pPr>
            <a:r>
              <a:rPr sz="1500" b="1" i="0">
                <a:solidFill>
                  <a:srgbClr val="FFFFFF"/>
                </a:solidFill>
              </a:rPr>
              <a:t>Direct USDC repayment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CF8C89-5E92-4011-89EF-E4A7555D0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91100"/>
            <a:ext cx="3381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C8CBC3"/>
                </a:solidFill>
              </a:defRPr>
            </a:pPr>
            <a:r>
              <a:rPr sz="1125" b="0" i="0">
                <a:solidFill>
                  <a:srgbClr val="C8CBC3"/>
                </a:solidFill>
              </a:rPr>
              <a:t>Capped test USDC moves directly from buyer to merchant.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1EC3A5-B3B9-4042-AA64-97372C7BD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715000"/>
            <a:ext cx="37147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457DFA-F657-4D6B-806A-E8D64CB2F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857875"/>
            <a:ext cx="333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TESTNET ONLY · NEVER USE REAL FUNDS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C5DFE2-82BC-4EEB-A105-122171B4B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C8CBC3"/>
                </a:solidFill>
              </a:defRPr>
            </a:pPr>
            <a:r>
              <a:rPr sz="750" b="1" i="0">
                <a:solidFill>
                  <a:srgbClr val="C8CBC3"/>
                </a:solidFill>
              </a:rPr>
              <a:t>VPORKPAY · FINAL SUBMISSION · DEFI TRACK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583D9F-C412-499E-85BD-79BEBC0F9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C8CBC3"/>
                </a:solidFill>
              </a:defRPr>
            </a:pPr>
            <a:r>
              <a:rPr sz="750" b="1" i="0">
                <a:solidFill>
                  <a:srgbClr val="C8CBC3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152143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DCD159-02A2-4178-95A4-E320DF1A0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DC624C"/>
                </a:solidFill>
              </a:defRPr>
            </a:pPr>
            <a:r>
              <a:rPr sz="975" b="1" i="0">
                <a:solidFill>
                  <a:srgbClr val="DC624C"/>
                </a:solidFill>
              </a:rPr>
              <a:t>WHY ARC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C68128-E45E-436A-B7A8-045D3FA0A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9810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0" i="0">
                <a:solidFill>
                  <a:srgbClr val="171712"/>
                </a:solidFill>
              </a:defRPr>
            </a:pPr>
            <a:r>
              <a:rPr sz="3150" b="0" i="0">
                <a:solidFill>
                  <a:srgbClr val="171712"/>
                </a:solidFill>
              </a:rPr>
              <a:t>Arc makes USDC the payment asset and the gas asset.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76ACEA-7CCC-4082-BB89-66E85CEF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52650"/>
            <a:ext cx="433387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800" b="1" i="0">
                <a:solidFill>
                  <a:srgbClr val="DC624C"/>
                </a:solidFill>
              </a:defRPr>
            </a:pPr>
            <a:r>
              <a:rPr sz="7800" b="1" i="0">
                <a:solidFill>
                  <a:srgbClr val="DC624C"/>
                </a:solidFill>
              </a:rPr>
              <a:t>USDC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744161-51BB-4FA7-AD7C-4F97002B9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B6F66"/>
                </a:solidFill>
              </a:defRPr>
            </a:pPr>
            <a:r>
              <a:rPr sz="1500" b="0" i="0">
                <a:solidFill>
                  <a:srgbClr val="6B6F66"/>
                </a:solidFill>
              </a:rPr>
              <a:t>one balance for value transfer and network fees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D76E47-D936-4B76-A074-54CD9248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4476750" cy="104775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2449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2CC7CB-2E5C-47F2-B71C-28BF76F8A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5300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DCEB7B"/>
                </a:solidFill>
              </a:defRPr>
            </a:pPr>
            <a:r>
              <a:rPr sz="1350" b="1" i="0">
                <a:solidFill>
                  <a:srgbClr val="DCEB7B"/>
                </a:solidFill>
              </a:rPr>
              <a:t>Arc Testnet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568F97-8EFE-4553-887C-6BA0A0C89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67325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FFFFFF"/>
                </a:solidFill>
              </a:defRPr>
            </a:pPr>
            <a:r>
              <a:rPr sz="1200" b="0" i="0">
                <a:solidFill>
                  <a:srgbClr val="FFFFFF"/>
                </a:solidFill>
              </a:rPr>
              <a:t>Chain ID 5042002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FFFFFF"/>
                </a:solidFill>
              </a:defRPr>
            </a:pPr>
            <a:r>
              <a:rPr sz="1200" b="0" i="0">
                <a:solidFill>
                  <a:srgbClr val="FFFFFF"/>
                </a:solidFill>
              </a:rPr>
              <a:t>RPC  rpc.testnet.arc.network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7943EB-2F29-49F5-95A1-8DECCEE5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47900"/>
            <a:ext cx="514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 i="0">
                <a:solidFill>
                  <a:srgbClr val="DC624C"/>
                </a:solidFill>
              </a:defRPr>
            </a:pPr>
            <a:r>
              <a:rPr sz="1950" b="0" i="0">
                <a:solidFill>
                  <a:srgbClr val="DC624C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6EBA29-6E43-4B60-9DBA-F04161B17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479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71712"/>
                </a:solidFill>
              </a:defRPr>
            </a:pPr>
            <a:r>
              <a:rPr sz="1650" b="1" i="0">
                <a:solidFill>
                  <a:srgbClr val="171712"/>
                </a:solidFill>
              </a:rPr>
              <a:t>Dollar-denominated gas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F99FF5-418D-4F99-AC1B-6D5D161A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19375"/>
            <a:ext cx="476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B6F66"/>
                </a:solidFill>
              </a:defRPr>
            </a:pPr>
            <a:r>
              <a:rPr sz="1200" b="0" i="0">
                <a:solidFill>
                  <a:srgbClr val="6B6F66"/>
                </a:solidFill>
              </a:rPr>
              <a:t>USDC is Arc's native gas token, removing the need for a separate volatile fee asset.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DA6CBE-C72F-4F87-BADE-3879D44F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7660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6C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8EC515-47E5-42CB-9C97-10906AEA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48050"/>
            <a:ext cx="514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 i="0">
                <a:solidFill>
                  <a:srgbClr val="DC624C"/>
                </a:solidFill>
              </a:defRPr>
            </a:pPr>
            <a:r>
              <a:rPr sz="1950" b="0" i="0">
                <a:solidFill>
                  <a:srgbClr val="DC624C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D84A29-964A-4392-9E33-6E9EB33B9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480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71712"/>
                </a:solidFill>
              </a:defRPr>
            </a:pPr>
            <a:r>
              <a:rPr sz="1650" b="1" i="0">
                <a:solidFill>
                  <a:srgbClr val="171712"/>
                </a:solidFill>
              </a:rPr>
              <a:t>Sub-second deterministic finality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F309A5-1526-48EB-9D6D-A3F61995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19525"/>
            <a:ext cx="476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B6F66"/>
                </a:solidFill>
              </a:defRPr>
            </a:pPr>
            <a:r>
              <a:rPr sz="1200" b="0" i="0">
                <a:solidFill>
                  <a:srgbClr val="6B6F66"/>
                </a:solidFill>
              </a:rPr>
              <a:t>Transactions finalize in under one second with no chain-reorganization risk.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8CC008-1DEC-4471-B01C-45D822D3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7675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6C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4CAF91-3DD6-468D-ADE1-E07641120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48200"/>
            <a:ext cx="514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 i="0">
                <a:solidFill>
                  <a:srgbClr val="DC624C"/>
                </a:solidFill>
              </a:defRPr>
            </a:pPr>
            <a:r>
              <a:rPr sz="1950" b="0" i="0">
                <a:solidFill>
                  <a:srgbClr val="DC624C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96F978-7AE9-4F26-8525-88D2A163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482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71712"/>
                </a:solidFill>
              </a:defRPr>
            </a:pPr>
            <a:r>
              <a:rPr sz="1650" b="1" i="0">
                <a:solidFill>
                  <a:srgbClr val="171712"/>
                </a:solidFill>
              </a:rPr>
              <a:t>EVM compatibility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D62F47-07DF-4BEB-89C9-6FE18DE7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19675"/>
            <a:ext cx="476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B6F66"/>
                </a:solidFill>
              </a:defRPr>
            </a:pPr>
            <a:r>
              <a:rPr sz="1200" b="0" i="0">
                <a:solidFill>
                  <a:srgbClr val="6B6F66"/>
                </a:solidFill>
              </a:rPr>
              <a:t>Existing Solidity contracts and standard Ethereum tooling remain usable.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CF50F1-3CE7-4BC2-9EC0-D4F7B0EB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85887F"/>
                </a:solidFill>
              </a:defRPr>
            </a:pPr>
            <a:r>
              <a:rPr sz="750" b="1" i="0">
                <a:solidFill>
                  <a:srgbClr val="85887F"/>
                </a:solidFill>
              </a:rPr>
              <a:t>VPORKPAY · FINAL SUBMISSION · DEFI TRACK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CBAC6B-596E-40FA-908A-1B08238B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85887F"/>
                </a:solidFill>
              </a:defRPr>
            </a:pPr>
            <a:r>
              <a:rPr sz="750" b="1" i="0">
                <a:solidFill>
                  <a:srgbClr val="85887F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957629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62C8CD-C2F1-4F1D-B903-ADCE2D6DD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DC624C"/>
                </a:solidFill>
              </a:defRPr>
            </a:pPr>
            <a:r>
              <a:rPr sz="975" b="1" i="0">
                <a:solidFill>
                  <a:srgbClr val="DC624C"/>
                </a:solidFill>
              </a:rPr>
              <a:t>CURRENT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8F1485-B7B8-49BB-AFB9-1301AA44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0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0" i="0">
                <a:solidFill>
                  <a:srgbClr val="171712"/>
                </a:solidFill>
              </a:defRPr>
            </a:pPr>
            <a:r>
              <a:rPr sz="3150" b="0" i="0">
                <a:solidFill>
                  <a:srgbClr val="171712"/>
                </a:solidFill>
              </a:rPr>
              <a:t>The MVP keeps every trust boundary visible.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067DC1-1595-453F-AB9A-61FC6BF8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9527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400" b="1" i="0">
                <a:solidFill>
                  <a:srgbClr val="DC624C"/>
                </a:solidFill>
              </a:defRPr>
            </a:pPr>
            <a:r>
              <a:rPr sz="2400" b="1" i="0">
                <a:solidFill>
                  <a:srgbClr val="DC624C"/>
                </a:solidFill>
              </a:rPr>
              <a:t>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E52B8E-6EA3-45AD-9052-C9C1E837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527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400" b="1" i="0">
                <a:solidFill>
                  <a:srgbClr val="DC624C"/>
                </a:solidFill>
              </a:defRPr>
            </a:pPr>
            <a:r>
              <a:rPr sz="2400" b="1" i="0">
                <a:solidFill>
                  <a:srgbClr val="DC624C"/>
                </a:solidFill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C4EA67-6834-4C0A-B585-66C8C575F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9527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400" b="1" i="0">
                <a:solidFill>
                  <a:srgbClr val="DC624C"/>
                </a:solidFill>
              </a:defRPr>
            </a:pPr>
            <a:r>
              <a:rPr sz="2400" b="1" i="0">
                <a:solidFill>
                  <a:srgbClr val="DC624C"/>
                </a:solidFill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D21E8-D25B-4253-BB0C-309A15E8F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9527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400" b="1" i="0">
                <a:solidFill>
                  <a:srgbClr val="DC624C"/>
                </a:solidFill>
              </a:defRPr>
            </a:pPr>
            <a:r>
              <a:rPr sz="2400" b="1" i="0">
                <a:solidFill>
                  <a:srgbClr val="DC624C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51071F-6B48-4561-B9BB-1BC0F690A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809750" cy="161925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AD6C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ABCC5C-A1BA-4C21-B9BF-DDAAD8604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670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DC624C"/>
                </a:solidFill>
              </a:defRPr>
            </a:pPr>
            <a:r>
              <a:rPr sz="1125" b="1" i="0">
                <a:solidFill>
                  <a:srgbClr val="DC624C"/>
                </a:solidFill>
              </a:rPr>
              <a:t>BUYER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BCEBA8-718D-4FD3-9F31-2FEDDE0F7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33725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171712"/>
                </a:solidFill>
              </a:defRPr>
            </a:pPr>
            <a:r>
              <a:rPr sz="1350" b="0" i="0">
                <a:solidFill>
                  <a:srgbClr val="171712"/>
                </a:solidFill>
              </a:rPr>
              <a:t>Browses and orders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C14391-6F5D-4373-81E9-8FFEC9F4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381250"/>
            <a:ext cx="1809750" cy="161925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AD6C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AF3B9E-2FB2-472A-A3A9-9ABA6591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6670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DC624C"/>
                </a:solidFill>
              </a:defRPr>
            </a:pPr>
            <a:r>
              <a:rPr sz="1125" b="1" i="0">
                <a:solidFill>
                  <a:srgbClr val="DC624C"/>
                </a:solidFill>
              </a:rPr>
              <a:t>VPORKPAY</a:t>
            </a:r>
            <a:r>
              <a:rPr sz="1125" b="1" i="0">
                <a:solidFill>
                  <a:srgbClr val="DC624C"/>
                </a:solidFill>
              </a:rPr>
              <a:t> WEB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729490-01E0-41F3-98CE-9A3F62CF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133725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171712"/>
                </a:solidFill>
              </a:defRPr>
            </a:pPr>
            <a:r>
              <a:rPr sz="1350" b="0" i="0">
                <a:solidFill>
                  <a:srgbClr val="171712"/>
                </a:solidFill>
              </a:rPr>
              <a:t>Calculates USDC total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F0606A-CECC-4352-B40E-77E91232E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381250"/>
            <a:ext cx="1809750" cy="161925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AD6C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6CC5BB-0AFC-4FF2-B564-79BA0FEE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6670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DC624C"/>
                </a:solidFill>
              </a:defRPr>
            </a:pPr>
            <a:r>
              <a:rPr sz="1125" b="1" i="0">
                <a:solidFill>
                  <a:srgbClr val="DC624C"/>
                </a:solidFill>
              </a:rPr>
              <a:t>EVM WALLET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74A513-D520-460D-8226-C399AB38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133725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171712"/>
                </a:solidFill>
              </a:defRPr>
            </a:pPr>
            <a:r>
              <a:rPr sz="1350" b="0" i="0">
                <a:solidFill>
                  <a:srgbClr val="171712"/>
                </a:solidFill>
              </a:rPr>
              <a:t>Buyer or merchant signs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B3CD05-B1D5-4C2F-9F24-D549A6BD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381250"/>
            <a:ext cx="1809750" cy="161925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rgbClr val="24493B"/>
          </a:solidFill>
          <a:ln xmlns:a="http://schemas.openxmlformats.org/drawingml/2006/main" w="9525">
            <a:solidFill>
              <a:srgbClr val="244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97FF83-7260-435B-9F66-6034B1C7A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6670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DCEB7B"/>
                </a:solidFill>
              </a:defRPr>
            </a:pPr>
            <a:r>
              <a:rPr sz="1125" b="1" i="0">
                <a:solidFill>
                  <a:srgbClr val="DCEB7B"/>
                </a:solidFill>
              </a:rPr>
              <a:t>CREDIT CONTRACT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C6D9F3-A2B9-4EF2-94CA-4EC5F47F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33725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FFFFFF"/>
                </a:solidFill>
              </a:defRPr>
            </a:pPr>
            <a:r>
              <a:rPr sz="1350" b="0" i="0">
                <a:solidFill>
                  <a:srgbClr val="FFFFFF"/>
                </a:solidFill>
              </a:rPr>
              <a:t>Records debt + interest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58F735-7C69-49C5-A956-A4008B0D7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81250"/>
            <a:ext cx="1809750" cy="161925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AD6C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1C513E-FB37-43DC-B8A1-4C5735F0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6670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DC624C"/>
                </a:solidFill>
              </a:defRPr>
            </a:pPr>
            <a:r>
              <a:rPr sz="1125" b="1" i="0">
                <a:solidFill>
                  <a:srgbClr val="DC624C"/>
                </a:solidFill>
              </a:rPr>
              <a:t>USDC + ARCSCAN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1FE5F5-3ED3-43FE-9A22-A498F95CC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33725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171712"/>
                </a:solidFill>
              </a:defRPr>
            </a:pPr>
            <a:r>
              <a:rPr sz="1350" b="0" i="0">
                <a:solidFill>
                  <a:srgbClr val="171712"/>
                </a:solidFill>
              </a:rPr>
              <a:t>Repays + proves finality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B2D682-48F6-47D0-A136-AACA6816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AD6C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4AA7B9-3C22-4105-8320-C166D10B1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71712"/>
                </a:solidFill>
              </a:defRPr>
            </a:pPr>
            <a:r>
              <a:rPr sz="1575" b="1" i="0">
                <a:solidFill>
                  <a:srgbClr val="171712"/>
                </a:solidFill>
              </a:rPr>
              <a:t>No custodial keys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48D1A0-BB7C-4877-95F6-7DEF68F37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B6F66"/>
                </a:solidFill>
              </a:defRPr>
            </a:pPr>
            <a:r>
              <a:rPr sz="1200" b="0" i="0">
                <a:solidFill>
                  <a:srgbClr val="6B6F66"/>
                </a:solidFill>
              </a:rPr>
              <a:t>The wallet signs from the user's browser.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0629F9-6A00-4EF8-B4BE-8343D9947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00062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71712"/>
                </a:solidFill>
              </a:defRPr>
            </a:pPr>
            <a:r>
              <a:rPr sz="1575" b="1" i="0">
                <a:solidFill>
                  <a:srgbClr val="171712"/>
                </a:solidFill>
              </a:rPr>
              <a:t>No real funds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B25987-6A60-444C-9ACB-2F3B9BFD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381625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B6F66"/>
                </a:solidFill>
              </a:defRPr>
            </a:pPr>
            <a:r>
              <a:rPr sz="1200" b="0" i="0">
                <a:solidFill>
                  <a:srgbClr val="6B6F66"/>
                </a:solidFill>
              </a:rPr>
              <a:t>Every money path is restricted to Arc Testnet.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6A63E4-E8D1-4622-898E-8A7DEF574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00062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71712"/>
                </a:solidFill>
              </a:defRPr>
            </a:pPr>
            <a:r>
              <a:rPr sz="1575" b="1" i="0">
                <a:solidFill>
                  <a:srgbClr val="171712"/>
                </a:solidFill>
              </a:rPr>
              <a:t>Contract is authoritative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BF3137-D087-45FF-851A-6EB3ABFD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81625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B6F66"/>
                </a:solidFill>
              </a:defRPr>
            </a:pPr>
            <a:r>
              <a:rPr sz="1200" b="0" i="0">
                <a:solidFill>
                  <a:srgbClr val="6B6F66"/>
                </a:solidFill>
              </a:rPr>
              <a:t>Local storage never defines the live amount due.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6B169A-3B1E-415A-9A55-E90C33D3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85887F"/>
                </a:solidFill>
              </a:defRPr>
            </a:pPr>
            <a:r>
              <a:rPr sz="750" b="1" i="0">
                <a:solidFill>
                  <a:srgbClr val="85887F"/>
                </a:solidFill>
              </a:rPr>
              <a:t>VPORKPAY · FINAL SUBMISSION · DEFI TRACK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F2005C-D374-4B2E-A02D-98B056B22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85887F"/>
                </a:solidFill>
              </a:defRPr>
            </a:pPr>
            <a:r>
              <a:rPr sz="750" b="1" i="0">
                <a:solidFill>
                  <a:srgbClr val="85887F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1816130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717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E44A58-DAC7-4AA0-9AED-1FD55D717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DCEB7B"/>
                </a:solidFill>
              </a:defRPr>
            </a:pPr>
            <a:r>
              <a:rPr sz="975" b="1" i="0">
                <a:solidFill>
                  <a:srgbClr val="DCEB7B"/>
                </a:solidFill>
              </a:rPr>
              <a:t>ONCHAIN CREDIT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75123B-0E2E-45C6-9048-0B60FAA6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0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0" i="0">
                <a:solidFill>
                  <a:srgbClr val="FFFFFF"/>
                </a:solidFill>
              </a:defRPr>
            </a:pPr>
            <a:r>
              <a:rPr sz="3150" b="0" i="0">
                <a:solidFill>
                  <a:srgbClr val="FFFFFF"/>
                </a:solidFill>
              </a:rPr>
              <a:t>Four serious steps, each with an explicit owner.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D2B6C2-EA7E-4261-9066-487FAA59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286125"/>
            <a:ext cx="9382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675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1E6C15-160E-40D7-B825-EED9F0AFE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06705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B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25705A-7A0B-4231-9ECC-8C3D9481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813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171712"/>
                </a:solidFill>
              </a:defRPr>
            </a:pPr>
            <a:r>
              <a:rPr sz="975" b="1" i="0">
                <a:solidFill>
                  <a:srgbClr val="171712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CD7705-A4C1-49C2-8A40-CB83FA7E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Buyer requests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D32D66-43C3-4DDF-8F3C-C7655556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14825"/>
            <a:ext cx="2209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C8CBC3"/>
                </a:solidFill>
              </a:defRPr>
            </a:pPr>
            <a:r>
              <a:rPr sz="1200" b="0" i="0">
                <a:solidFill>
                  <a:srgbClr val="C8CBC3"/>
                </a:solidFill>
              </a:rPr>
              <a:t>Save the shortfall as pending. No debt exists yet.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F76A84-266B-4B2F-9D7D-2C870BE6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6705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6C29FD-2C36-4180-8B24-A9A2E08CD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1813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171712"/>
                </a:solidFill>
              </a:defRPr>
            </a:pPr>
            <a:r>
              <a:rPr sz="975" b="1" i="0">
                <a:solidFill>
                  <a:srgbClr val="171712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CDA5A0-9E6E-4231-A317-CC2A4C114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905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Merchant approves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90A894-E47A-4E23-8AF2-60D2229F7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314825"/>
            <a:ext cx="2209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C8CBC3"/>
                </a:solidFill>
              </a:defRPr>
            </a:pPr>
            <a:r>
              <a:rPr sz="1200" b="0" i="0">
                <a:solidFill>
                  <a:srgbClr val="C8CBC3"/>
                </a:solidFill>
              </a:rPr>
              <a:t>The shop-owner wallet opens the exact principal onchain.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8B0CFA-71B9-4992-B70D-B8B3C20B1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6705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DEBE21-8E89-428A-B258-C6848A8B6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1813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171712"/>
                </a:solidFill>
              </a:defRPr>
            </a:pPr>
            <a:r>
              <a:rPr sz="975" b="1" i="0">
                <a:solidFill>
                  <a:srgbClr val="171712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B04894-8A88-4666-A4F6-804AACE1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Interest accrues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7B6657-D9A6-45A0-8AAA-6C3681AF8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314825"/>
            <a:ext cx="2209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C8CBC3"/>
                </a:solidFill>
              </a:defRPr>
            </a:pPr>
            <a:r>
              <a:rPr sz="1200" b="0" i="0">
                <a:solidFill>
                  <a:srgbClr val="C8CBC3"/>
                </a:solidFill>
              </a:rPr>
              <a:t>Arc block time advances a transparent fixed APR.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FF6F01-1108-4D56-8167-8E5F36B39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06705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AA9A81-B7E0-450C-A6BF-CEF35944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1813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171712"/>
                </a:solidFill>
              </a:defRPr>
            </a:pPr>
            <a:r>
              <a:rPr sz="975" b="1" i="0">
                <a:solidFill>
                  <a:srgbClr val="171712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4CBC37-B926-4363-BB11-2F1B27D2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3905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Buyer repays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6DCC9A-8CBC-4DCA-ABBA-4EE09A6F2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314825"/>
            <a:ext cx="2209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C8CBC3"/>
                </a:solidFill>
              </a:defRPr>
            </a:pPr>
            <a:r>
              <a:rPr sz="1200" b="0" i="0">
                <a:solidFill>
                  <a:srgbClr val="C8CBC3"/>
                </a:solidFill>
              </a:rPr>
              <a:t>Capped test USDC transfers directly to the merchant.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ad145752de412e"/>
          <a:srcRect xmlns:a="http://schemas.openxmlformats.org/drawingml/2006/main" l="0" t="27273" r="0" b="272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2500" y="5095875"/>
            <a:ext cx="2933700" cy="1000125"/>
          </a:xfrm>
          <a:prstGeom xmlns:a="http://schemas.openxmlformats.org/drawingml/2006/main" prst="roundRect">
            <a:avLst>
              <a:gd name="adj" fmla="val 19048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A87FF1-E6A6-4BAA-936D-6E705821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5334000" cy="6667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2449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2B887C-5254-48C3-BC76-0DD6A23F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7212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DCEB7B"/>
                </a:solidFill>
              </a:defRPr>
            </a:pPr>
            <a:r>
              <a:rPr sz="1350" b="1" i="0">
                <a:solidFill>
                  <a:srgbClr val="DCEB7B"/>
                </a:solidFill>
              </a:rPr>
              <a:t>Tested lifecycle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6A6D0B-9056-4F47-A767-47D64DC18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819775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</a:defRPr>
            </a:pPr>
            <a:r>
              <a:rPr sz="1125" b="0" i="0">
                <a:solidFill>
                  <a:srgbClr val="FFFFFF"/>
                </a:solidFill>
              </a:rPr>
              <a:t>Deploy → request → approve → accrue → repay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BA4D03-E5B2-4010-8B98-45E867721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C8CBC3"/>
                </a:solidFill>
              </a:defRPr>
            </a:pPr>
            <a:r>
              <a:rPr sz="750" b="1" i="0">
                <a:solidFill>
                  <a:srgbClr val="C8CBC3"/>
                </a:solidFill>
              </a:rPr>
              <a:t>VPORKPAY · FINAL SUBMISSION · DEFI TRACK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274128-614E-48DA-9DC0-F230AE005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C8CBC3"/>
                </a:solidFill>
              </a:defRPr>
            </a:pPr>
            <a:r>
              <a:rPr sz="750" b="1" i="0">
                <a:solidFill>
                  <a:srgbClr val="C8CBC3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907563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DC624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35be46e96b4b06"/>
          <a:srcRect xmlns:a="http://schemas.openxmlformats.org/drawingml/2006/main" l="23437" t="0" r="2343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34250" y="0"/>
            <a:ext cx="48577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C2EB99-C1F6-43D5-BE19-0F5B75F57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90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62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9F4CD6-25EB-436A-B631-073E893A0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FINAL SUBMISSION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364818-671E-4533-A395-40C3ED91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0" i="0">
                <a:solidFill>
                  <a:srgbClr val="FFFFFF"/>
                </a:solidFill>
              </a:defRPr>
            </a:pPr>
            <a:r>
              <a:rPr sz="4350" b="0" i="0">
                <a:solidFill>
                  <a:srgbClr val="FFFFFF"/>
                </a:solidFill>
              </a:rPr>
              <a:t>Pork trade,</a:t>
            </a:r>
          </a:p>
          <a:p xmlns:a="http://schemas.openxmlformats.org/drawingml/2006/main">
            <a:pPr algn="l">
              <a:buNone/>
              <a:defRPr sz="4350" b="0" i="0">
                <a:solidFill>
                  <a:srgbClr val="FFFFFF"/>
                </a:solidFill>
              </a:defRPr>
            </a:pPr>
            <a:r>
              <a:rPr sz="4350" b="0" i="0">
                <a:solidFill>
                  <a:srgbClr val="FFFFFF"/>
                </a:solidFill>
              </a:rPr>
              <a:t>financed on Arc.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82C577-10BE-42F1-A3C3-62A60293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71712"/>
                </a:solidFill>
              </a:defRPr>
            </a:pPr>
            <a:r>
              <a:rPr sz="1725" b="1" i="0">
                <a:solidFill>
                  <a:srgbClr val="171712"/>
                </a:solidFill>
              </a:rPr>
              <a:t>Buy pork. Request credit. Repay in USDC.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C1E0EE-E77D-46B4-9722-9D475445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552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4316E3-6686-4AF3-A84E-AE7F8014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71712"/>
                </a:solidFill>
              </a:defRPr>
            </a:pPr>
            <a:r>
              <a:rPr sz="900" b="1" i="0">
                <a:solidFill>
                  <a:srgbClr val="171712"/>
                </a:solidFill>
              </a:rPr>
              <a:t>CODE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04F57B-2D53-4380-AB99-2D7312A6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100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FFFFFF"/>
                </a:solidFill>
              </a:defRPr>
            </a:pPr>
            <a:r>
              <a:rPr sz="1425" b="0" i="0">
                <a:solidFill>
                  <a:srgbClr val="FFFFFF"/>
                </a:solidFill>
                <a:hlinkClick xmlns:r="http://schemas.openxmlformats.org/officeDocument/2006/relationships" r:id="R4b26d8b6c13a41fa"/>
              </a:rPr>
              <a:t>Public GitHub repository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CB96C2-2806-492E-9992-B4280E61F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71712"/>
                </a:solidFill>
              </a:defRPr>
            </a:pPr>
            <a:r>
              <a:rPr sz="900" b="1" i="0">
                <a:solidFill>
                  <a:srgbClr val="171712"/>
                </a:solidFill>
              </a:rPr>
              <a:t>DEMO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BB1F43-3ACE-466D-B78A-88DF6B1C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FFFFFF"/>
                </a:solidFill>
              </a:defRPr>
            </a:pPr>
            <a:r>
              <a:rPr sz="1425" b="0" i="0">
                <a:solidFill>
                  <a:srgbClr val="FFFFFF"/>
                </a:solidFill>
                <a:hlinkClick xmlns:r="http://schemas.openxmlformats.org/officeDocument/2006/relationships" r:id="Ra4dab72528344d90"/>
              </a:rPr>
              <a:t>Functional GitHub Pages MVP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7E3453-0A9B-4119-833F-F7DCDFAF9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71712"/>
                </a:solidFill>
              </a:defRPr>
            </a:pPr>
            <a:r>
              <a:rPr sz="900" b="1" i="0">
                <a:solidFill>
                  <a:srgbClr val="171712"/>
                </a:solidFill>
              </a:rPr>
              <a:t>DECK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4B1F36-CAAD-49A3-BB89-7EDBF0C7F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625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</a:defRPr>
            </a:pPr>
            <a:r>
              <a:rPr sz="1275" b="0" i="0">
                <a:solidFill>
                  <a:srgbClr val="FFFFFF"/>
                </a:solidFill>
                <a:hlinkClick xmlns:r="http://schemas.openxmlformats.org/officeDocument/2006/relationships" r:id="Rcd26c63924ed4cd2"/>
              </a:rPr>
              <a:t>Interactive final presentation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98547D-35E3-404E-806C-1208D13C3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2238375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17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642B8D-5748-454F-9EC0-0E34EA15E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34075"/>
            <a:ext cx="2238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FFFFFF"/>
                </a:solidFill>
              </a:defRPr>
            </a:pPr>
            <a:r>
              <a:rPr sz="900" b="1" i="0">
                <a:solidFill>
                  <a:srgbClr val="FFFFFF"/>
                </a:solidFill>
              </a:rPr>
              <a:t>FINAL SUBMISSION · DEFI</a:t>
            </a:r>
          </a:p>
        </p:txBody>
      </p:sp>
    </p:spTree>
    <p:extLst>
      <p:ext uri="{BB962C8B-B14F-4D97-AF65-F5344CB8AC3E}">
        <p14:creationId xmlns:p14="http://schemas.microsoft.com/office/powerpoint/2010/main" val="1470622102"/>
      </p:ext>
    </p:extLst>
  </p:cSld>
</p:sld>
</file>

<file path=ppt/theme/theme1.xml><?xml version="1.0" encoding="utf-8"?>
<a:theme xmlns:a="http://schemas.openxmlformats.org/drawingml/2006/main" name="ChatGPT">
  <a:themeElements>
    <a:clrScheme name="VPorkPay">
      <a:dk1>
        <a:srgbClr val="000000"/>
      </a:dk1>
      <a:lt1>
        <a:srgbClr val="FFFFFF"/>
      </a:lt1>
      <a:dk2>
        <a:srgbClr val="171712"/>
      </a:dk2>
      <a:lt2>
        <a:srgbClr val="DAD6CC"/>
      </a:lt2>
      <a:accent1>
        <a:srgbClr val="DC624C"/>
      </a:accent1>
      <a:accent2>
        <a:srgbClr val="24493B"/>
      </a:accent2>
      <a:accent3>
        <a:srgbClr val="DCEB7B"/>
      </a:accent3>
      <a:accent4>
        <a:srgbClr val="F1B7AA"/>
      </a:accent4>
      <a:accent5>
        <a:srgbClr val="93660C"/>
      </a:accent5>
      <a:accent6>
        <a:srgbClr val="36A174"/>
      </a:accent6>
      <a:hlink>
        <a:srgbClr val="24493B"/>
      </a:hlink>
      <a:folHlink>
        <a:srgbClr val="DC624C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VPorkPa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2026-08-07T13:17:00.7410000Z</dcterms:created>
  <dcterms:modified xsi:type="dcterms:W3CDTF">2026-08-07T13:17:00.7410000Z</dcterms:modified>
</coreProperties>
</file>