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103ce1b8c748f2" /><Relationship Type="http://schemas.openxmlformats.org/officeDocument/2006/relationships/extended-properties" Target="/docProps/app.xml" Id="Ra7f1eae43b214da4" /><Relationship Type="http://schemas.openxmlformats.org/officeDocument/2006/relationships/officeDocument" Target="/ppt/presentation.xml" Id="R4f0f18a9e0064e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4d1a45acd94434"/>
  </p:sldMasterIdLst>
  <p:notesMasterIdLst>
    <p:notesMasterId xmlns:r="http://schemas.openxmlformats.org/officeDocument/2006/relationships" r:id="R0734db42ff9f4949"/>
  </p:notesMasterIdLst>
  <p:sldIdLst>
    <p:sldId xmlns:r="http://schemas.openxmlformats.org/officeDocument/2006/relationships" id="256" r:id="Rfc808a337539427c"/>
    <p:sldId xmlns:r="http://schemas.openxmlformats.org/officeDocument/2006/relationships" id="257" r:id="R0cf34c7c2945459c"/>
    <p:sldId xmlns:r="http://schemas.openxmlformats.org/officeDocument/2006/relationships" id="258" r:id="R272d625ae14848b6"/>
    <p:sldId xmlns:r="http://schemas.openxmlformats.org/officeDocument/2006/relationships" id="259" r:id="Rb80fed516c0645cf"/>
    <p:sldId xmlns:r="http://schemas.openxmlformats.org/officeDocument/2006/relationships" id="260" r:id="Rc155f73f9eb34e7e"/>
    <p:sldId xmlns:r="http://schemas.openxmlformats.org/officeDocument/2006/relationships" id="261" r:id="R94715ced503d47bb"/>
    <p:sldId xmlns:r="http://schemas.openxmlformats.org/officeDocument/2006/relationships" id="262" r:id="Rdae499159fc6458b"/>
    <p:sldId xmlns:r="http://schemas.openxmlformats.org/officeDocument/2006/relationships" id="263" r:id="R2ded5fd3a45e49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b06821c5dd4175" /><Relationship Type="http://schemas.openxmlformats.org/officeDocument/2006/relationships/slideMaster" Target="/ppt/slideMasters/slideMaster1.xml" Id="Rb24d1a45acd94434" /><Relationship Type="http://schemas.openxmlformats.org/officeDocument/2006/relationships/notesMaster" Target="/ppt/notesMasters/notesMaster1.xml" Id="R0734db42ff9f4949" /><Relationship Type="http://schemas.openxmlformats.org/officeDocument/2006/relationships/presProps" Target="/ppt/presProps.xml" Id="Ra27a972a8706436c" /><Relationship Type="http://schemas.openxmlformats.org/officeDocument/2006/relationships/tableStyles" Target="/ppt/tableStyles.xml" Id="Ra52f4adf2809419f" /><Relationship Type="http://schemas.openxmlformats.org/officeDocument/2006/relationships/slide" Target="/ppt/slides/slide1.xml" Id="Rfc808a337539427c" /><Relationship Type="http://schemas.openxmlformats.org/officeDocument/2006/relationships/slide" Target="/ppt/slides/slide2.xml" Id="R0cf34c7c2945459c" /><Relationship Type="http://schemas.openxmlformats.org/officeDocument/2006/relationships/slide" Target="/ppt/slides/slide3.xml" Id="R272d625ae14848b6" /><Relationship Type="http://schemas.openxmlformats.org/officeDocument/2006/relationships/slide" Target="/ppt/slides/slide4.xml" Id="Rb80fed516c0645cf" /><Relationship Type="http://schemas.openxmlformats.org/officeDocument/2006/relationships/slide" Target="/ppt/slides/slide5.xml" Id="Rc155f73f9eb34e7e" /><Relationship Type="http://schemas.openxmlformats.org/officeDocument/2006/relationships/slide" Target="/ppt/slides/slide6.xml" Id="R94715ced503d47bb" /><Relationship Type="http://schemas.openxmlformats.org/officeDocument/2006/relationships/slide" Target="/ppt/slides/slide7.xml" Id="Rdae499159fc6458b" /><Relationship Type="http://schemas.openxmlformats.org/officeDocument/2006/relationships/slide" Target="/ppt/slides/slide8.xml" Id="R2ded5fd3a45e49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5ac44c4b7f46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761cc779a74d62" /><Relationship Type="http://schemas.openxmlformats.org/officeDocument/2006/relationships/notesMaster" Target="/ppt/notesMasters/notesMaster1.xml" Id="R6a84c3ab90a740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20c1be2d1d4177" /><Relationship Type="http://schemas.openxmlformats.org/officeDocument/2006/relationships/notesMaster" Target="/ppt/notesMasters/notesMaster1.xml" Id="Rc60f71ef0e3740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a5f4126da44342" /><Relationship Type="http://schemas.openxmlformats.org/officeDocument/2006/relationships/notesMaster" Target="/ppt/notesMasters/notesMaster1.xml" Id="Rc45e8f0fd8f348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bf10aeccc74d63" /><Relationship Type="http://schemas.openxmlformats.org/officeDocument/2006/relationships/notesMaster" Target="/ppt/notesMasters/notesMaster1.xml" Id="R40930e5b74a840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0f91cdf0cb4fc3" /><Relationship Type="http://schemas.openxmlformats.org/officeDocument/2006/relationships/notesMaster" Target="/ppt/notesMasters/notesMaster1.xml" Id="R0f28dc22d8bc46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7fd5a1b66e4b6e" /><Relationship Type="http://schemas.openxmlformats.org/officeDocument/2006/relationships/notesMaster" Target="/ppt/notesMasters/notesMaster1.xml" Id="R217c1eb23ed541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06263330f74bed" /><Relationship Type="http://schemas.openxmlformats.org/officeDocument/2006/relationships/notesMaster" Target="/ppt/notesMasters/notesMaster1.xml" Id="Ra59bd23d44764f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975729f43843fe" /><Relationship Type="http://schemas.openxmlformats.org/officeDocument/2006/relationships/notesMaster" Target="/ppt/notesMasters/notesMaster1.xml" Id="Rb6db4c0ee6c044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promise: buy pork, request store credit, and repay in test USDC.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problem statement: https://github.com/vybao39-rgb/porkpay#the-problem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narrow user journey from marketplace discovery to merchant-approved working capital.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https://vybao39-rgb.github.io/porkpay/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Screenshot captured from the public VPorkPay GitHub Pages 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browser verifies the versioned contract before any credit action. A buyer request is pending until the merchant signs openDebt.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https://github.com/vybao39-rgb/porkpay/blob/main/contracts/VPorkPayStoreCredit.sol</a:t>
            </a:r>
          </a:p>
          <a:p xmlns:a="http://schemas.openxmlformats.org/drawingml/2006/main">
            <a:r>
              <a:t>- https://developers.circle.com/stablecoins/usdc-contract-addresses</a:t>
            </a:r>
          </a:p>
          <a:p xmlns:a="http://schemas.openxmlformats.org/drawingml/2006/main">
            <a:r>
              <a:t>- https://docs.arc.io/arc/tutorials/deploy-contracts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https://docs.arc.io/arc-chain</a:t>
            </a:r>
          </a:p>
          <a:p xmlns:a="http://schemas.openxmlformats.org/drawingml/2006/main">
            <a:r>
              <a:t>- https://docs.arc.io/arc/concepts/stablecoin-native-model</a:t>
            </a:r>
          </a:p>
          <a:p xmlns:a="http://schemas.openxmlformats.org/drawingml/2006/main">
            <a:r>
              <a:t>- https://docs.arc.io/arc/references/rpc-endpoints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 through the trust boundaries. Emphasize non-custodial signatures and contract-authoritative debt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https://github.com/vybao39-rgb/porkpay/blob/main/index.html</a:t>
            </a:r>
          </a:p>
          <a:p xmlns:a="http://schemas.openxmlformats.org/drawingml/2006/main">
            <a:r>
              <a:t>- https://docs.arc.io/arc/references/rpc-endpoints</a:t>
            </a:r>
          </a:p>
          <a:p xmlns:a="http://schemas.openxmlformats.org/drawingml/2006/main">
            <a:r>
              <a:t>- https://developers.circle.com/stablecoins/usdc-contract-addresses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who signs each step and why no debt exists before merchant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https://github.com/vybao39-rgb/porkpay/blob/main/contracts/VPorkPayStoreCredit.sol</a:t>
            </a:r>
          </a:p>
          <a:p xmlns:a="http://schemas.openxmlformats.org/drawingml/2006/main">
            <a:r>
              <a:t>- https://github.com/vybao39-rgb/porkpay/blob/main/contracts/test/VPorkPayStoreCredit.test.cjs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public artifacts only. Do not claim mainnet readiness; this is an unaudited Arc Testnet MVP.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https://vybao39-rgb.github.io/porkpay/</a:t>
            </a:r>
          </a:p>
          <a:p xmlns:a="http://schemas.openxmlformats.org/drawingml/2006/main">
            <a:r>
              <a:t>- https://vybao39-rgb.github.io/porkpay/VPorkPay-Final-Demo.mp4</a:t>
            </a:r>
          </a:p>
          <a:p xmlns:a="http://schemas.openxmlformats.org/drawingml/2006/main">
            <a:r>
              <a:t>- https://vybao39-rgb.github.io/porkpay/presentation.html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c9e910793e4f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701373a4604c9a" /><Relationship Type="http://schemas.openxmlformats.org/officeDocument/2006/relationships/slideLayout" Target="/ppt/slideLayouts/slideLayout1.xml" Id="R522d9018b66649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2d9018b66649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eeea10e2944ba" /><Relationship Type="http://schemas.openxmlformats.org/officeDocument/2006/relationships/image" Target="/ppt/media/image.jpeg" Id="R3244e25a64324de4" /><Relationship Type="http://schemas.openxmlformats.org/officeDocument/2006/relationships/image" Target="/ppt/media/image2.jpeg" Id="R06a926b3b1e84208" /><Relationship Type="http://schemas.openxmlformats.org/officeDocument/2006/relationships/notesSlide" Target="/ppt/notesSlides/notesSlide1.xml" Id="R04a92568623845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b03210a984f14" /><Relationship Type="http://schemas.openxmlformats.org/officeDocument/2006/relationships/image" Target="/ppt/media/image3.jpeg" Id="R46864cf4b6554dfd" /><Relationship Type="http://schemas.openxmlformats.org/officeDocument/2006/relationships/image" Target="/ppt/media/image4.jpeg" Id="R3a4bcb9f52754ab1" /><Relationship Type="http://schemas.openxmlformats.org/officeDocument/2006/relationships/notesSlide" Target="/ppt/notesSlides/notesSlide2.xml" Id="R370d28c734474f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efd57554044d6" /><Relationship Type="http://schemas.openxmlformats.org/officeDocument/2006/relationships/image" Target="/ppt/media/image5.jpeg" Id="R152b62580db74fd8" /><Relationship Type="http://schemas.openxmlformats.org/officeDocument/2006/relationships/notesSlide" Target="/ppt/notesSlides/notesSlide3.xml" Id="Rb1c6f33194c54b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8e9eb7add4817" /><Relationship Type="http://schemas.openxmlformats.org/officeDocument/2006/relationships/image" Target="/ppt/media/image6.jpeg" Id="R9d766b9dc05d424e" /><Relationship Type="http://schemas.openxmlformats.org/officeDocument/2006/relationships/notesSlide" Target="/ppt/notesSlides/notesSlide4.xml" Id="R198ae085cc664a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52dde0f1cd4915" /><Relationship Type="http://schemas.openxmlformats.org/officeDocument/2006/relationships/notesSlide" Target="/ppt/notesSlides/notesSlide5.xml" Id="Rcaa94933776f46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ab1e9a5354004" /><Relationship Type="http://schemas.openxmlformats.org/officeDocument/2006/relationships/notesSlide" Target="/ppt/notesSlides/notesSlide6.xml" Id="R34aebd7d64a142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109ebdb134ef6" /><Relationship Type="http://schemas.openxmlformats.org/officeDocument/2006/relationships/image" Target="/ppt/media/image7.jpeg" Id="Re00dea17d15540b5" /><Relationship Type="http://schemas.openxmlformats.org/officeDocument/2006/relationships/notesSlide" Target="/ppt/notesSlides/notesSlide7.xml" Id="R35007a71c6b545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e093c929f4088" /><Relationship Type="http://schemas.openxmlformats.org/officeDocument/2006/relationships/image" Target="/ppt/media/image8.jpeg" Id="Rc4e58b994a6746f7" /><Relationship Type="http://schemas.openxmlformats.org/officeDocument/2006/relationships/hyperlink" Target="https://github.com/vybao39-rgb/porkpay" TargetMode="External" Id="R3b774a2f311a4180" /><Relationship Type="http://schemas.openxmlformats.org/officeDocument/2006/relationships/hyperlink" Target="https://vybao39-rgb.github.io/porkpay/" TargetMode="External" Id="R268a18a060b64286" /><Relationship Type="http://schemas.openxmlformats.org/officeDocument/2006/relationships/hyperlink" Target="https://vybao39-rgb.github.io/porkpay/VPorkPay-Final-Demo.mp4" TargetMode="External" Id="R4772acaa18c44c7c" /><Relationship Type="http://schemas.openxmlformats.org/officeDocument/2006/relationships/notesSlide" Target="/ppt/notesSlides/notesSlide8.xml" Id="R0145328be77b4d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81133-C788-4E4E-9504-E81B07D6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0"/>
            <a:ext cx="466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44e25a64324de4"/>
          <a:srcRect xmlns:a="http://schemas.openxmlformats.org/drawingml/2006/main" l="90" t="0" r="9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05750" y="904875"/>
            <a:ext cx="3524250" cy="2647950"/>
          </a:xfrm>
          <a:prstGeom xmlns:a="http://schemas.openxmlformats.org/drawingml/2006/main" prst="roundRect">
            <a:avLst>
              <a:gd name="adj" fmla="val 10791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a926b3b1e84208"/>
          <a:srcRect xmlns:a="http://schemas.openxmlformats.org/drawingml/2006/main" l="0" t="10317" r="0" b="103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3762375"/>
            <a:ext cx="4000500" cy="2381250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833EA5-AEFD-4820-8EA0-7CD4AA7C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88214-22FC-4977-82A4-FC0C02A0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A29AD-4B0E-4B2B-BC1B-F4C3F08D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620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4493B"/>
                </a:solidFill>
              </a:defRPr>
            </a:pPr>
            <a:r>
              <a:rPr sz="975" b="1" i="0">
                <a:solidFill>
                  <a:srgbClr val="24493B"/>
                </a:solidFill>
              </a:rPr>
              <a:t>BUILD ON ARC 2026 · FINAL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36407-F0DF-4BF3-A279-4C71D1EE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400" b="0" i="0">
                <a:solidFill>
                  <a:srgbClr val="171712"/>
                </a:solidFill>
              </a:defRPr>
            </a:pPr>
            <a:r>
              <a:rPr sz="5400" b="0" i="0">
                <a:solidFill>
                  <a:srgbClr val="171712"/>
                </a:solidFill>
              </a:rPr>
              <a:t>VPorkPay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4854A2-2A82-4C2C-8A87-EF7FEEB9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200" b="0" i="1">
                <a:solidFill>
                  <a:srgbClr val="DC624C"/>
                </a:solidFill>
              </a:defRPr>
            </a:pPr>
            <a:r>
              <a:rPr sz="4200" b="0" i="1">
                <a:solidFill>
                  <a:srgbClr val="DC624C"/>
                </a:solidFill>
              </a:rPr>
              <a:t>Source better.</a:t>
            </a:r>
          </a:p>
          <a:p xmlns:a="http://schemas.openxmlformats.org/drawingml/2006/main">
            <a:pPr algn="l">
              <a:buNone/>
              <a:defRPr sz="4200" b="0" i="1">
                <a:solidFill>
                  <a:srgbClr val="DC624C"/>
                </a:solidFill>
              </a:defRPr>
            </a:pPr>
            <a:r>
              <a:rPr sz="4200" b="0" i="1">
                <a:solidFill>
                  <a:srgbClr val="DC624C"/>
                </a:solidFill>
              </a:rPr>
              <a:t>Finance smarter.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A6D5F-C8DB-48AA-B3AE-0BD9EDF5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61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B6F66"/>
                </a:solidFill>
              </a:defRPr>
            </a:pPr>
            <a:r>
              <a:rPr sz="1725" b="0" i="0">
                <a:solidFill>
                  <a:srgbClr val="6B6F66"/>
                </a:solidFill>
              </a:rPr>
              <a:t>A USDC-native pork marketplace with merchant-approved onchain store credit on Arc.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4C3AF3-A32B-4ED7-BA7C-6FFEA68F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2571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050541-E31E-43E6-BFF9-AEC0C004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DEFI TRACK · FUNCTIONAL MVP</a:t>
            </a:r>
          </a:p>
        </p:txBody>
      </p:sp>
    </p:spTree>
    <p:extLst>
      <p:ext uri="{BB962C8B-B14F-4D97-AF65-F5344CB8AC3E}">
        <p14:creationId xmlns:p14="http://schemas.microsoft.com/office/powerpoint/2010/main" val="14664660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28B53-39E0-4972-A2F5-E4FBE9AB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0454BD-660A-4081-B557-57A0B41F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866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0" i="0">
                <a:solidFill>
                  <a:srgbClr val="171712"/>
                </a:solidFill>
              </a:defRPr>
            </a:pPr>
            <a:r>
              <a:rPr sz="3300" b="0" i="0">
                <a:solidFill>
                  <a:srgbClr val="171712"/>
                </a:solidFill>
              </a:rPr>
              <a:t>Pork trade still runs on fragmented coordination.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0721A-ACF5-47A1-8DA2-EA840CAA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C624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92BB2-6E4A-4355-9766-7FABCA14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61F9A-C626-4745-ABD5-B6A63EE6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Prices are hard to compare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6A076-36F9-4D33-B44C-DE4EFA19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Buyers discover offers across disconnected messages and spreadsheets.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890CBC-6CAE-4342-8BF4-FE0FDA39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0FE2BD-0079-4122-A9E3-39565507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Settlement is slow to verify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680B8-5281-47CB-85FC-00D1D10D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00475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Cash and bank transfers separate payment confirmation from the order record.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DFF30-2944-4451-8A92-831B35C7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0E08C-8EA3-41E4-8745-6CF252B8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Delivery has no shared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8DDEE-BC23-4305-A4B2-8D8F406D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95850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Buyer and supplier lack one timeline for payment, fulfilment and settlement.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64cf4b6554dfd"/>
          <a:srcRect xmlns:a="http://schemas.openxmlformats.org/drawingml/2006/main" l="25000" t="0" r="2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2381250"/>
            <a:ext cx="2095500" cy="3143250"/>
          </a:xfrm>
          <a:prstGeom xmlns:a="http://schemas.openxmlformats.org/drawingml/2006/main" prst="roundRect">
            <a:avLst>
              <a:gd name="adj" fmla="val 12727"/>
            </a:avLst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bcb9f52754ab1"/>
          <a:srcRect xmlns:a="http://schemas.openxmlformats.org/drawingml/2006/main" l="20682" t="0" r="2068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48750" y="2381250"/>
            <a:ext cx="2457450" cy="3143250"/>
          </a:xfrm>
          <a:prstGeom xmlns:a="http://schemas.openxmlformats.org/drawingml/2006/main" prst="roundRect">
            <a:avLst>
              <a:gd name="adj" fmla="val 10853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D09F9-6BB7-42F3-9AAD-2F4C47EF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667375"/>
            <a:ext cx="47434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2A5664-D770-4B6A-8E2F-1BF2FE02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81025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One USDC-denominated commerce record.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61EF58-269E-4A88-876B-AC371EA8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FF301C-3143-4034-8D9B-7AD00C7B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681443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3303B-1C82-4A0B-BB15-EC4CDDDF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DF813-D64B-4A8F-A5DF-146F472A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One flow connects discovery, ordering and working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02408-9452-4181-844E-54F9DD35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933950" cy="39052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b62580db74fd8"/>
          <a:srcRect xmlns:a="http://schemas.openxmlformats.org/drawingml/2006/main" l="9628" t="0" r="96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762750" y="2047875"/>
            <a:ext cx="4552950" cy="352425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D8689-9C67-4059-9F80-08A41377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06965-B674-447C-BE8C-625A5389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145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Discover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B886C-0C23-47E1-AF00-154C9E80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55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Compare verified suppliers, cuts and USDC prices.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D35C8-5DF1-4714-BC65-BF532DC0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242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F697D7-4270-4456-BD46-03AA9E53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B66F2-E80C-4A09-B722-16CF7ED2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718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Order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CA83C7-C08B-4086-B17F-43C10584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528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Build a cart and capture delivery details.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7355C-82AD-4720-934A-B42E1002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9A2BC4-6F0E-4F5B-9E39-EA7E79B6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BDC19-A524-4AF2-89CB-B5C6853A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Finance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8E001F-F8A6-4519-86CE-75C0249E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101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Pay with test USDC or request merchant-approved onchain credit.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EF596B-D805-4EA8-83E7-B86FDC4F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504825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457C8-79AE-4225-A573-29DDD810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2932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493B"/>
                </a:solidFill>
              </a:defRPr>
            </a:pPr>
            <a:r>
              <a:rPr sz="1050" b="1" i="0">
                <a:solidFill>
                  <a:srgbClr val="24493B"/>
                </a:solidFill>
              </a:rPr>
              <a:t>Functional Arc Testnet MVP · no custodial keys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C3D287-0CAC-41B3-9A5C-42A574E6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377D6C-52CA-4937-ABBB-BEAC985D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14142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EB59EC-CC82-428F-B683-3937B1FB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EB7B"/>
                </a:solidFill>
              </a:defRPr>
            </a:pPr>
            <a:r>
              <a:rPr sz="975" b="1" i="0">
                <a:solidFill>
                  <a:srgbClr val="DCEB7B"/>
                </a:solidFill>
              </a:rPr>
              <a:t>FUNCTIONAL MVP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7646E-6081-46B4-86F3-21DD3C52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00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FFFFFF"/>
                </a:solidFill>
              </a:defRPr>
            </a:pPr>
            <a:r>
              <a:rPr sz="3150" b="0" i="0">
                <a:solidFill>
                  <a:srgbClr val="FFFFFF"/>
                </a:solidFill>
              </a:rPr>
              <a:t>The browser verifies and operates the credit contract.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F12D4-02E6-4C9F-9428-8E79183D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6324600" cy="39052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FFDF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66b9dc05d424e"/>
          <a:srcRect xmlns:a="http://schemas.openxmlformats.org/drawingml/2006/main" l="0" t="2357" r="0" b="23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57250" y="2057400"/>
            <a:ext cx="5981700" cy="356235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C98F1-3353-4AE6-946C-F8750A82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907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B9F0A-AF94-4323-AAD5-82484D73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0002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DF1D0-B4B0-4C76-8799-DE7CDA2D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Verify before trust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F4273-3FC5-4090-997C-6F6FD0A4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Check contract ID, merchant and official Arc Testnet USDC.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A4D3A4-71B5-46AB-B93A-822216B3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051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BBF3B2-9DDF-4B92-9313-527D6A09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146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DC298-D6D7-46C1-9137-75FF142F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670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Merchant-approved debt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6F8A7-7432-43D8-B6F6-626DB9C3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623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A request creates no debt until the shop owner signs openDebt.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7E608C-7F27-4569-AB1E-88CBB445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195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921FE5-32BE-4444-A7A1-BF299AA1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290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6BD49-7241-4395-B2A7-7F9E0069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814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Price-linked interest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D3930-7BC1-4D44-97AC-EF7A44EC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767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APR fixes at opening; amount due accrues from Arc block time.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0CD57E-4450-4FDC-9C08-C5BFCC0C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339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B842B-0431-4FA6-8CA0-F587E0B3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43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C08B17-79C5-4C1A-B5EE-91898256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958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Direct USDC repayment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F8C89-5E92-4011-89EF-E4A7555D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911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Capped test USDC moves directly from buyer to merchant.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EC3A5-B3B9-4042-AA64-97372C7B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715000"/>
            <a:ext cx="37147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457DFA-F657-4D6B-806A-E8D64CB2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857875"/>
            <a:ext cx="333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TESTNET ONLY · NEVER USE REAL FUNDS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C5DFE2-82BC-4EEB-A105-122171B4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VPORKPAY · FINAL SUBMISSION · DEFI TRACK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583D9F-C412-499E-85BD-79BEBC0F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15214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DCD159-02A2-4178-95A4-E320DF1A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WHY ARC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C68128-E45E-436A-B7A8-045D3FA0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81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Arc makes USDC the payment asset and the gas asset.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6ACEA-7CCC-4082-BB89-66E85CEF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43338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800" b="1" i="0">
                <a:solidFill>
                  <a:srgbClr val="DC624C"/>
                </a:solidFill>
              </a:defRPr>
            </a:pPr>
            <a:r>
              <a:rPr sz="7800" b="1" i="0">
                <a:solidFill>
                  <a:srgbClr val="DC624C"/>
                </a:solidFill>
              </a:rPr>
              <a:t>USDC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44161-51BB-4FA7-AD7C-4F97002B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B6F66"/>
                </a:solidFill>
              </a:defRPr>
            </a:pPr>
            <a:r>
              <a:rPr sz="1500" b="0" i="0">
                <a:solidFill>
                  <a:srgbClr val="6B6F66"/>
                </a:solidFill>
              </a:rPr>
              <a:t>one balance for value transfer and network fees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76E47-D936-4B76-A074-54CD9248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476750" cy="104775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CC7CB-2E5C-47F2-B71C-28BF76F8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CEB7B"/>
                </a:solidFill>
              </a:defRPr>
            </a:pPr>
            <a:r>
              <a:rPr sz="1350" b="1" i="0">
                <a:solidFill>
                  <a:srgbClr val="DCEB7B"/>
                </a:solidFill>
              </a:rPr>
              <a:t>Arc Testnet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68F97-8EFE-4553-887C-6BA0A0C8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67325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Chain ID 5042002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RPC  rpc.testnet.arc.network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943EB-2F29-49F5-95A1-8DECCEE5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4790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EBA29-6E43-4B60-9DBA-F04161B1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479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Dollar-denominated gas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F99FF5-418D-4F99-AC1B-6D5D161A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USDC is Arc's native gas token, removing the need for a separate volatile fee asset.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A6CBE-C72F-4F87-BADE-3879D44F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766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EC515-47E5-42CB-9C97-10906AEA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4805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84A29-964A-4392-9E33-6E9EB33B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48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Sub-second deterministic finality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309A5-1526-48EB-9D6D-A3F61995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952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Transactions finalize in under one second with no chain-reorganization risk.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8CC008-1DEC-4471-B01C-45D822D3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4CAF91-3DD6-468D-ADE1-E0764112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4820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6F978-7AE9-4F26-8525-88D2A163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482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EVM compatibility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D62F47-07DF-4BEB-89C9-6FE18DE7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1967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Existing Solidity contracts and standard Ethereum tooling remain usable.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CF50F1-3CE7-4BC2-9EC0-D4F7B0EB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BAC6B-596E-40FA-908A-1B08238B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957629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62C8CD-C2F1-4F1D-B903-ADCE2D6D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CURRENT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F1485-B7B8-49BB-AFB9-1301AA44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The MVP keeps every trust boundary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067DC1-1595-453F-AB9A-61FC6BF8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52B8E-6EA3-45AD-9052-C9C1E837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4EA67-6834-4C0A-B585-66C8C57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D21E8-D25B-4253-BB0C-309A15E8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1071F-6B48-4561-B9BB-1BC0F690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BCC5C-A1BA-4C21-B9BF-DDAAD860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BUYER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CEBA8-718D-4FD3-9F31-2FEDDE0F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Browses and orders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14391-6F5D-4373-81E9-8FFEC9F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F3B9E-2FB2-472A-A3A9-9ABA659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VPORKPAY</a:t>
            </a:r>
            <a:r>
              <a:rPr sz="1125" b="1" i="0">
                <a:solidFill>
                  <a:srgbClr val="DC624C"/>
                </a:solidFill>
              </a:rPr>
              <a:t> WEB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29490-01E0-41F3-98CE-9A3F62CF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Calculates USDC total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0606A-CECC-4352-B40E-77E91232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CC5BB-0AFC-4FF2-B564-79BA0FEE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EVM WALLET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74A513-D520-460D-8226-C399AB38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Buyer or merchant signs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3CD05-B1D5-4C2F-9F24-D549A6BD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9525">
            <a:solidFill>
              <a:srgbClr val="244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97FF83-7260-435B-9F66-6034B1C7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EB7B"/>
                </a:solidFill>
              </a:defRPr>
            </a:pPr>
            <a:r>
              <a:rPr sz="1125" b="1" i="0">
                <a:solidFill>
                  <a:srgbClr val="DCEB7B"/>
                </a:solidFill>
              </a:rPr>
              <a:t>CREDIT CONTRACT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6D9F3-A2B9-4EF2-94CA-4EC5F47F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Records debt + interest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58F735-7C69-49C5-A956-A4008B0D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1C513E-FB37-43DC-B8A1-4C5735F0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USDC + ARCSCAN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FE5F5-3ED3-43FE-9A22-A498F95C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Repays + proves finality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B2D682-48F6-47D0-A136-AACA6816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AA7B9-3C22-4105-8320-C166D10B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No custodial keys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8D1A0-BB7C-4877-95F6-7DEF68F3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The wallet signs from the user's browser.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0629F9-6A00-4EF8-B4BE-8343D994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No real funds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B25987-6A60-444C-9ACB-2F3B9BFD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Every money path is restricted to Arc Testnet.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6A63E4-E8D1-4622-898E-8A7DEF57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Contract is authoritative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BF3137-D087-45FF-851A-6EB3ABFD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Local storage never defines the live amount due.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6B169A-3B1E-415A-9A55-E90C33D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F2005C-D374-4B2E-A02D-98B056B2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181613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E44A58-DAC7-4AA0-9AED-1FD55D71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EB7B"/>
                </a:solidFill>
              </a:defRPr>
            </a:pPr>
            <a:r>
              <a:rPr sz="975" b="1" i="0">
                <a:solidFill>
                  <a:srgbClr val="DCEB7B"/>
                </a:solidFill>
              </a:rPr>
              <a:t>ONCHAIN CREDIT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5123B-0E2E-45C6-9048-0B60FAA6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FFFFFF"/>
                </a:solidFill>
              </a:defRPr>
            </a:pPr>
            <a:r>
              <a:rPr sz="3150" b="0" i="0">
                <a:solidFill>
                  <a:srgbClr val="FFFFFF"/>
                </a:solidFill>
              </a:rPr>
              <a:t>Four serious steps, each with an explicit owner.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2B6C2-EA7E-4261-9066-487FAA59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286125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675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E6C15-160E-40D7-B825-EED9F0AF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5705A-7A0B-4231-9ECC-8C3D9481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D7705-A4C1-49C2-8A40-CB83FA7E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Buyer requests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32D66-43C3-4DDF-8F3C-C7655556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Save the shortfall as pending. No debt exists yet.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76A84-266B-4B2F-9D7D-2C870BE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6C29FD-2C36-4180-8B24-A9A2E08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DA5A0-9E6E-4231-A317-CC2A4C11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Merchant approves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90A894-E47A-4E23-8AF2-60D2229F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The shop-owner wallet opens the exact principal onchain.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8B0CFA-71B9-4992-B70D-B8B3C20B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DEBE21-8E89-428A-B258-C6848A8B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B04894-8A88-4666-A4F6-804AACE1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Interest accrues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7B6657-D9A6-45A0-8AAA-6C3681AF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Arc block time advances a transparent fixed APR.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F6F01-1108-4D56-8167-8E5F36B3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AA9A81-B7E0-450C-A6BF-CEF35944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CBC37-B926-4363-BB11-2F1B27D2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Buyer repays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6DCC9A-8CBC-4DCA-ABBA-4EE09A6F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Capped test USDC transfers directly to the merchant.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ea17d15540b5"/>
          <a:srcRect xmlns:a="http://schemas.openxmlformats.org/drawingml/2006/main" l="0" t="27273" r="0" b="272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5095875"/>
            <a:ext cx="2933700" cy="1000125"/>
          </a:xfrm>
          <a:prstGeom xmlns:a="http://schemas.openxmlformats.org/drawingml/2006/main" prst="roundRect">
            <a:avLst>
              <a:gd name="adj" fmla="val 19048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A87FF1-E6A6-4BAA-936D-6E705821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5334000" cy="6667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B887C-5254-48C3-BC76-0DD6A23F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721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CEB7B"/>
                </a:solidFill>
              </a:defRPr>
            </a:pPr>
            <a:r>
              <a:rPr sz="1350" b="1" i="0">
                <a:solidFill>
                  <a:srgbClr val="DCEB7B"/>
                </a:solidFill>
              </a:rPr>
              <a:t>Tested lifecycle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6A6D0B-9056-4F47-A767-47D64DC1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977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</a:defRPr>
            </a:pPr>
            <a:r>
              <a:rPr sz="1125" b="0" i="0">
                <a:solidFill>
                  <a:srgbClr val="FFFFFF"/>
                </a:solidFill>
              </a:rPr>
              <a:t>Deploy → request → approve → accrue → repay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BA4D03-E5B2-4010-8B98-45E86772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VPORKPAY · FINAL SUBMISSION · DEFI TRACK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274128-614E-48DA-9DC0-F230AE00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90756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DC62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e58b994a6746f7"/>
          <a:srcRect xmlns:a="http://schemas.openxmlformats.org/drawingml/2006/main" l="23437" t="0" r="234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34250" y="0"/>
            <a:ext cx="4857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2EB99-C1F6-43D5-BE19-0F5B75F5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90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F4CD6-25EB-436A-B631-073E893A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FINAL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64818-671E-4533-A395-40C3ED91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0" i="0">
                <a:solidFill>
                  <a:srgbClr val="FFFFFF"/>
                </a:solidFill>
              </a:defRPr>
            </a:pPr>
            <a:r>
              <a:rPr sz="4350" b="0" i="0">
                <a:solidFill>
                  <a:srgbClr val="FFFFFF"/>
                </a:solidFill>
              </a:rPr>
              <a:t>Pork trade,</a:t>
            </a:r>
          </a:p>
          <a:p xmlns:a="http://schemas.openxmlformats.org/drawingml/2006/main">
            <a:pPr algn="l">
              <a:buNone/>
              <a:defRPr sz="4350" b="0" i="0">
                <a:solidFill>
                  <a:srgbClr val="FFFFFF"/>
                </a:solidFill>
              </a:defRPr>
            </a:pPr>
            <a:r>
              <a:rPr sz="4350" b="0" i="0">
                <a:solidFill>
                  <a:srgbClr val="FFFFFF"/>
                </a:solidFill>
              </a:rPr>
              <a:t>financed on Arc.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2C577-10BE-42F1-A3C3-62A60293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Buy pork. Request credit. Repay in USDC.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1E0EE-E77D-46B4-9722-9D475445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52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316E3-6686-4AF3-A84E-AE7F8014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4F57B-2D53-4380-AB99-2D7312A6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100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FFFFFF"/>
                </a:solidFill>
              </a:defRPr>
            </a:pPr>
            <a:r>
              <a:rPr sz="1425" b="0" i="0">
                <a:solidFill>
                  <a:srgbClr val="FFFFFF"/>
                </a:solidFill>
                <a:hlinkClick xmlns:r="http://schemas.openxmlformats.org/officeDocument/2006/relationships" r:id="R3b774a2f311a4180"/>
              </a:rPr>
              <a:t>Public GitHub 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B96C2-2806-492E-9992-B4280E61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BB1F43-3ACE-466D-B78A-88DF6B1C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FFFFFF"/>
                </a:solidFill>
              </a:defRPr>
            </a:pPr>
            <a:r>
              <a:rPr sz="1425" b="0" i="0">
                <a:solidFill>
                  <a:srgbClr val="FFFFFF"/>
                </a:solidFill>
                <a:hlinkClick xmlns:r="http://schemas.openxmlformats.org/officeDocument/2006/relationships" r:id="R268a18a060b64286"/>
              </a:rPr>
              <a:t>Functional GitHub Pages 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E3453-0A9B-4119-833F-F7DCDFAF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VIDEO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4B1F36-CAAD-49A3-BB89-7EDBF0C7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62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</a:defRPr>
            </a:pPr>
            <a:r>
              <a:rPr sz="1275" b="0" i="0">
                <a:solidFill>
                  <a:srgbClr val="FFFFFF"/>
                </a:solidFill>
                <a:hlinkClick xmlns:r="http://schemas.openxmlformats.org/officeDocument/2006/relationships" r:id="R4772acaa18c44c7c"/>
              </a:rPr>
              <a:t>3-minute pitch and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98547D-35E3-404E-806C-1208D13C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22383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17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642B8D-5748-454F-9EC0-0E34EA15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34075"/>
            <a:ext cx="2238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FINAL SUBMISSION · DEFI</a:t>
            </a:r>
          </a:p>
        </p:txBody>
      </p:sp>
    </p:spTree>
    <p:extLst>
      <p:ext uri="{BB962C8B-B14F-4D97-AF65-F5344CB8AC3E}">
        <p14:creationId xmlns:p14="http://schemas.microsoft.com/office/powerpoint/2010/main" val="1470622102"/>
      </p:ext>
    </p:extLst>
  </p:cSld>
</p:sld>
</file>

<file path=ppt/theme/theme1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2026-08-07T13:27:38.6520000Z</dcterms:created>
  <dcterms:modified xsi:type="dcterms:W3CDTF">2026-08-07T13:27:38.6520000Z</dcterms:modified>
</coreProperties>
</file>