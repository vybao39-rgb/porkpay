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6295bdfb3d42d2" /><Relationship Type="http://schemas.openxmlformats.org/officeDocument/2006/relationships/extended-properties" Target="/docProps/app.xml" Id="R63763c1faedc430f" /><Relationship Type="http://schemas.openxmlformats.org/officeDocument/2006/relationships/officeDocument" Target="/ppt/presentation.xml" Id="R194bc990793349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252604c0be467e"/>
  </p:sldMasterIdLst>
  <p:notesMasterIdLst>
    <p:notesMasterId xmlns:r="http://schemas.openxmlformats.org/officeDocument/2006/relationships" r:id="Re8675f15d2c54ef2"/>
  </p:notesMasterIdLst>
  <p:sldIdLst>
    <p:sldId xmlns:r="http://schemas.openxmlformats.org/officeDocument/2006/relationships" id="256" r:id="Rcc366724a74b4914"/>
    <p:sldId xmlns:r="http://schemas.openxmlformats.org/officeDocument/2006/relationships" id="257" r:id="Rf31efbe45d8d4d41"/>
    <p:sldId xmlns:r="http://schemas.openxmlformats.org/officeDocument/2006/relationships" id="258" r:id="Rc160c1518b504a82"/>
    <p:sldId xmlns:r="http://schemas.openxmlformats.org/officeDocument/2006/relationships" id="259" r:id="Rb5c47a7c0eec4be3"/>
    <p:sldId xmlns:r="http://schemas.openxmlformats.org/officeDocument/2006/relationships" id="260" r:id="Rdaeb05f8aad84184"/>
    <p:sldId xmlns:r="http://schemas.openxmlformats.org/officeDocument/2006/relationships" id="261" r:id="Rcd49f35bf6224ab8"/>
    <p:sldId xmlns:r="http://schemas.openxmlformats.org/officeDocument/2006/relationships" id="262" r:id="R65b74d10e9e74237"/>
    <p:sldId xmlns:r="http://schemas.openxmlformats.org/officeDocument/2006/relationships" id="263" r:id="R7e3300b5cb6345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f681512b18453b" /><Relationship Type="http://schemas.openxmlformats.org/officeDocument/2006/relationships/slideMaster" Target="/ppt/slideMasters/slideMaster1.xml" Id="Re1252604c0be467e" /><Relationship Type="http://schemas.openxmlformats.org/officeDocument/2006/relationships/notesMaster" Target="/ppt/notesMasters/notesMaster1.xml" Id="Re8675f15d2c54ef2" /><Relationship Type="http://schemas.openxmlformats.org/officeDocument/2006/relationships/presProps" Target="/ppt/presProps.xml" Id="R65e2e5e8e5a845ea" /><Relationship Type="http://schemas.openxmlformats.org/officeDocument/2006/relationships/tableStyles" Target="/ppt/tableStyles.xml" Id="R07c836b93c5342f4" /><Relationship Type="http://schemas.openxmlformats.org/officeDocument/2006/relationships/slide" Target="/ppt/slides/slide1.xml" Id="Rcc366724a74b4914" /><Relationship Type="http://schemas.openxmlformats.org/officeDocument/2006/relationships/slide" Target="/ppt/slides/slide2.xml" Id="Rf31efbe45d8d4d41" /><Relationship Type="http://schemas.openxmlformats.org/officeDocument/2006/relationships/slide" Target="/ppt/slides/slide3.xml" Id="Rc160c1518b504a82" /><Relationship Type="http://schemas.openxmlformats.org/officeDocument/2006/relationships/slide" Target="/ppt/slides/slide4.xml" Id="Rb5c47a7c0eec4be3" /><Relationship Type="http://schemas.openxmlformats.org/officeDocument/2006/relationships/slide" Target="/ppt/slides/slide5.xml" Id="Rdaeb05f8aad84184" /><Relationship Type="http://schemas.openxmlformats.org/officeDocument/2006/relationships/slide" Target="/ppt/slides/slide6.xml" Id="Rcd49f35bf6224ab8" /><Relationship Type="http://schemas.openxmlformats.org/officeDocument/2006/relationships/slide" Target="/ppt/slides/slide7.xml" Id="R65b74d10e9e74237" /><Relationship Type="http://schemas.openxmlformats.org/officeDocument/2006/relationships/slide" Target="/ppt/slides/slide8.xml" Id="R7e3300b5cb6345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fe1b7738084b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c363188dbc47b8" /><Relationship Type="http://schemas.openxmlformats.org/officeDocument/2006/relationships/notesMaster" Target="/ppt/notesMasters/notesMaster1.xml" Id="R2420b2edfb1245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ec07f242a04736" /><Relationship Type="http://schemas.openxmlformats.org/officeDocument/2006/relationships/notesMaster" Target="/ppt/notesMasters/notesMaster1.xml" Id="R028f7eb5f2c943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1d7ce9f92e4e9a" /><Relationship Type="http://schemas.openxmlformats.org/officeDocument/2006/relationships/notesMaster" Target="/ppt/notesMasters/notesMaster1.xml" Id="R54ede9c376b940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7027ca6f1d4ffd" /><Relationship Type="http://schemas.openxmlformats.org/officeDocument/2006/relationships/notesMaster" Target="/ppt/notesMasters/notesMaster1.xml" Id="R864f0dc05d3c40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38041ee9c14199" /><Relationship Type="http://schemas.openxmlformats.org/officeDocument/2006/relationships/notesMaster" Target="/ppt/notesMasters/notesMaster1.xml" Id="R5f3f167387f643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a824c3952f469a" /><Relationship Type="http://schemas.openxmlformats.org/officeDocument/2006/relationships/notesMaster" Target="/ppt/notesMasters/notesMaster1.xml" Id="R49f749371b0143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2eba6e429f4762" /><Relationship Type="http://schemas.openxmlformats.org/officeDocument/2006/relationships/notesMaster" Target="/ppt/notesMasters/notesMaster1.xml" Id="R320c2fb9bd2d4d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f7c18356c54f9f" /><Relationship Type="http://schemas.openxmlformats.org/officeDocument/2006/relationships/notesMaster" Target="/ppt/notesMasters/notesMaster1.xml" Id="R16799fcdedde4a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one sentence: VPorkPay turns a pork order into either a direct USDC payment or a merchant-approved credit position.</a:t>
            </a:r>
          </a:p>
          <a:p xmlns:a="http://schemas.openxmlformats.org/drawingml/2006/main">
            <a:r>
              <a:t>The live MVP, public repository, 180-second demo and this deck are all published from the same release.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https://vpork.xyz/</a:t>
            </a:r>
          </a:p>
          <a:p xmlns:a="http://schemas.openxmlformats.org/drawingml/2006/main">
            <a:r>
              <a:t>https://github.com/vybao39-rgb/porkpay</a:t>
            </a:r>
          </a:p>
          <a:p xmlns:a="http://schemas.openxmlformats.org/drawingml/2006/main">
            <a:r>
              <a:t>https://testnet.arcscan.app/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problem is not only checkout. It is coordination between product, payment and short-term credit.</a:t>
            </a:r>
          </a:p>
          <a:p xmlns:a="http://schemas.openxmlformats.org/drawingml/2006/main">
            <a:r>
              <a:t>VPorkPay keeps the commercial order offchain in Supabase while every money movement and active debt stays independently verifiable on Arc.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https://vpork.xyz/</a:t>
            </a:r>
          </a:p>
          <a:p xmlns:a="http://schemas.openxmlformats.org/drawingml/2006/main">
            <a:r>
              <a:t>https://github.com/vybao39-rgb/porkpay</a:t>
            </a:r>
          </a:p>
          <a:p xmlns:a="http://schemas.openxmlformats.org/drawingml/2006/main">
            <a:r>
              <a:t>https://testnet.arcscan.app/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application never pretends a buyer is funded.</a:t>
            </a:r>
          </a:p>
          <a:p xmlns:a="http://schemas.openxmlformats.org/drawingml/2006/main">
            <a:r>
              <a:t>If the wallet is funded, the checkout sends the order value directly to the merchant. If not, only the shortfall becomes a request; the merchant must explicitly open the debt onchain.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https://vpork.xyz/</a:t>
            </a:r>
          </a:p>
          <a:p xmlns:a="http://schemas.openxmlformats.org/drawingml/2006/main">
            <a:r>
              <a:t>https://github.com/vybao39-rgb/porkpay</a:t>
            </a:r>
          </a:p>
          <a:p xmlns:a="http://schemas.openxmlformats.org/drawingml/2006/main">
            <a:r>
              <a:t>https://testnet.arcscan.app/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three surfaces from the root URL. Buyer wallets do not see Seller Hub.</a:t>
            </a:r>
          </a:p>
          <a:p xmlns:a="http://schemas.openxmlformats.org/drawingml/2006/main">
            <a:r>
              <a:t>The redesigned orders page separates paid orders from active debts and calculates interest per credit order using the onchain amount due.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https://vpork.xyz/</a:t>
            </a:r>
          </a:p>
          <a:p xmlns:a="http://schemas.openxmlformats.org/drawingml/2006/main">
            <a:r>
              <a:t>https://github.com/vybao39-rgb/porkpay</a:t>
            </a:r>
          </a:p>
          <a:p xmlns:a="http://schemas.openxmlformats.org/drawingml/2006/main">
            <a:r>
              <a:t>https://testnet.arcscan.app/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verified source on Arcscan. The contract pins the merchant and official test USDC address.</a:t>
            </a:r>
          </a:p>
          <a:p xmlns:a="http://schemas.openxmlformats.org/drawingml/2006/main">
            <a:r>
              <a:t>Do not claim an agent payment that has not been signed. The deck only claims deployed credit, direct USDC payment and a working App Kit bridge flow where public evidence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https://vpork.xyz/</a:t>
            </a:r>
          </a:p>
          <a:p xmlns:a="http://schemas.openxmlformats.org/drawingml/2006/main">
            <a:r>
              <a:t>https://github.com/vybao39-rgb/porkpay</a:t>
            </a:r>
          </a:p>
          <a:p xmlns:a="http://schemas.openxmlformats.org/drawingml/2006/main">
            <a:r>
              <a:t>https://testnet.arcscan.app/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submission is DeFi: USDC payment and merchant-approved lending on Arc.</a:t>
            </a:r>
          </a:p>
          <a:p xmlns:a="http://schemas.openxmlformats.org/drawingml/2006/main">
            <a:r>
              <a:t>App Kit is implemented as a CCTP bridge surface. Agent Stack is clearly labeled ready because a live Agent Wallet payment still requires a user-owned OTP and signature.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https://vpork.xyz/</a:t>
            </a:r>
          </a:p>
          <a:p xmlns:a="http://schemas.openxmlformats.org/drawingml/2006/main">
            <a:r>
              <a:t>https://github.com/vybao39-rgb/porkpay</a:t>
            </a:r>
          </a:p>
          <a:p xmlns:a="http://schemas.openxmlformats.org/drawingml/2006/main">
            <a:r>
              <a:t>https://testnet.arcscan.app/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seriousness of the MVP: the database and blockchain are not pretending to be each other.</a:t>
            </a:r>
          </a:p>
          <a:p xmlns:a="http://schemas.openxmlformats.org/drawingml/2006/main">
            <a:r>
              <a:t>Supabase owns shared commerce state. The Arc contract owns active debt and repayment. The buyer and merchant retain wallet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https://vpork.xyz/</a:t>
            </a:r>
          </a:p>
          <a:p xmlns:a="http://schemas.openxmlformats.org/drawingml/2006/main">
            <a:r>
              <a:t>https://github.com/vybao39-rgb/porkpay</a:t>
            </a:r>
          </a:p>
          <a:p xmlns:a="http://schemas.openxmlformats.org/drawingml/2006/main">
            <a:r>
              <a:t>https://testnet.arcscan.app/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root URL. The submission hub contains all final artifacts and proof links.</a:t>
            </a:r>
          </a:p>
          <a:p xmlns:a="http://schemas.openxmlformats.org/drawingml/2006/main">
            <a:r>
              <a:t>Invite the jury to test the funded payment path first, then inspect the verified contract and credit lifecycle on Arcscan.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https://vpork.xyz/</a:t>
            </a:r>
          </a:p>
          <a:p xmlns:a="http://schemas.openxmlformats.org/drawingml/2006/main">
            <a:r>
              <a:t>https://github.com/vybao39-rgb/porkpay</a:t>
            </a:r>
          </a:p>
          <a:p xmlns:a="http://schemas.openxmlformats.org/drawingml/2006/main">
            <a:r>
              <a:t>https://testnet.arcscan.app/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c8b0161664b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ec0dddea304661" /><Relationship Type="http://schemas.openxmlformats.org/officeDocument/2006/relationships/slideLayout" Target="/ppt/slideLayouts/slideLayout1.xml" Id="R55de36e699a44c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de36e699a44c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05f7cc34b4b2f" /><Relationship Type="http://schemas.openxmlformats.org/officeDocument/2006/relationships/image" Target="/ppt/media/image.png" Id="R7c97853038074d9d" /><Relationship Type="http://schemas.openxmlformats.org/officeDocument/2006/relationships/notesSlide" Target="/ppt/notesSlides/notesSlide1.xml" Id="Rf315d81d6b9f47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63ae1518844ec" /><Relationship Type="http://schemas.openxmlformats.org/officeDocument/2006/relationships/notesSlide" Target="/ppt/notesSlides/notesSlide2.xml" Id="R272837f2be904f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458151c7649aa" /><Relationship Type="http://schemas.openxmlformats.org/officeDocument/2006/relationships/notesSlide" Target="/ppt/notesSlides/notesSlide3.xml" Id="Rbf27a0bf2c3541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21c3da7994c9e" /><Relationship Type="http://schemas.openxmlformats.org/officeDocument/2006/relationships/hyperlink" Target="https://vpork.xyz/" TargetMode="External" Id="Rd3c19f905d9b4a12" /><Relationship Type="http://schemas.openxmlformats.org/officeDocument/2006/relationships/notesSlide" Target="/ppt/notesSlides/notesSlide4.xml" Id="R2de71ba6b67944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7c8f10f7749da" /><Relationship Type="http://schemas.openxmlformats.org/officeDocument/2006/relationships/hyperlink" Target="https://testnet.arcscan.app/address/0xd9dAB755431664aDA2D13868674Ddb43FfDEF396?tab=contract" TargetMode="External" Id="R35c445c55cfe415e" /><Relationship Type="http://schemas.openxmlformats.org/officeDocument/2006/relationships/notesSlide" Target="/ppt/notesSlides/notesSlide5.xml" Id="R870b1104376e42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92bb38eb8447f" /><Relationship Type="http://schemas.openxmlformats.org/officeDocument/2006/relationships/hyperlink" Target="https://github.com/vybao39-rgb/porkpay" TargetMode="External" Id="Ra8d5ddea28c74af7" /><Relationship Type="http://schemas.openxmlformats.org/officeDocument/2006/relationships/notesSlide" Target="/ppt/notesSlides/notesSlide6.xml" Id="R0c394dffd21240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7a26715c94258" /><Relationship Type="http://schemas.openxmlformats.org/officeDocument/2006/relationships/notesSlide" Target="/ppt/notesSlides/notesSlide7.xml" Id="Rcdc8fd7b5f4a44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75bf87016448b" /><Relationship Type="http://schemas.openxmlformats.org/officeDocument/2006/relationships/hyperlink" Target="https://vpork.xyz/" TargetMode="External" Id="R40991c35411b4242" /><Relationship Type="http://schemas.openxmlformats.org/officeDocument/2006/relationships/hyperlink" Target="https://github.com/vybao39-rgb/porkpay" TargetMode="External" Id="Raee2901f39d543f8" /><Relationship Type="http://schemas.openxmlformats.org/officeDocument/2006/relationships/hyperlink" Target="https://vpork.xyz/VPorkPay-Final-Demo.mp4" TargetMode="External" Id="R661a192b306f4fc5" /><Relationship Type="http://schemas.openxmlformats.org/officeDocument/2006/relationships/hyperlink" Target="https://vpork.xyz/VPorkPay-Final-Submission-Deck.pptx" TargetMode="External" Id="R5e696ea1a2e84dac" /><Relationship Type="http://schemas.openxmlformats.org/officeDocument/2006/relationships/hyperlink" Target="https://vpork.xyz/submission.html" TargetMode="External" Id="R456052f4c5764fb5" /><Relationship Type="http://schemas.openxmlformats.org/officeDocument/2006/relationships/notesSlide" Target="/ppt/notesSlides/notesSlide8.xml" Id="Rb955d44619f946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D305F-78A6-48CD-8FC7-8AF83293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3A78A-8C5D-4310-A21E-DB37991C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6A9CD-6314-4D19-9914-C1EF7FB0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213BD-14C1-4471-8EA1-263B4246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2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A1EDF-A489-4C15-BE5E-19465449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10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rPr>
              <a:t>BUILD ON ARC 2026 · DEFI TRACK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1D288-1D27-4074-A5EE-1988E547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VPorkPay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0237A-9A3F-4178-B718-3D812E28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Buy pork.</a:t>
            </a:r>
          </a:p>
          <a:p xmlns:a="http://schemas.openxmlformats.org/drawingml/2006/main">
            <a:pPr algn="l">
              <a:buNone/>
              <a:defRPr sz="420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Keep cash moving.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F6D9A-4ACF-43A9-A5AD-92EBB8A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A working-capital marketplace where buyers settle in USDC or request merchant-approved onchain credit on Arc.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1C227-1983-4595-BB5B-778889C9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C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56F4F-E553-4B18-BAFE-EC9286B4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FUNCTIONAL MVP · ARC TESTNET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7853038074d9d"/>
          <a:srcRect xmlns:a="http://schemas.openxmlformats.org/drawingml/2006/main" l="21455" t="0" r="21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6200" y="876300"/>
            <a:ext cx="3886200" cy="51054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71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5EF77A-5020-4E63-815C-793604A6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18EF9-60A7-4626-9071-D3EA84FA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5DA9D-C83E-41BF-B8BF-0E5A2E79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VPorkPay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27664-A81C-4B28-BB86-A3003E2E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6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4CB45-98E4-49E3-AE61-0B8CC404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THE MARKET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4E432-728D-4971-8A4E-A3637958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A simple order becomes three disconnected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C22C5-B2FA-4E2B-9F7B-56798B3D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B036A-1F57-4254-ABD5-2D6E7A92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BFD20-1616-4DC5-998A-F0D18A27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Price, weight and supplier are negotiated in chat or at the stall.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314E6-D2C2-4323-B52A-526158D0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19475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024CE-48BA-4655-8228-B626F293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BEF0B-F98A-4F5F-8D63-48F94581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Payment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F2792-BEB0-4812-8D08-9DF338D5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147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Cash and bank transfers are difficult to reconcile with the 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E2A44-E2ED-4675-8F75-2EAC9475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5775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64D85-76B0-4732-BC47-D2CC340A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E0E9E-2981-44AA-9115-BC1D1D5C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Credit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93452-B22C-4ACC-AE01-EA42AE65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910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Shortfalls become informal debt with no shared balance or repayment proof.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E1053-427B-458D-8D0B-DCDD2909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300990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D9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4EFC3-927C-4E8E-B0EC-EFA1BD97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43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1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ONE ORDER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ONE MONEY LAYER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ONE AUDIT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047786-D15B-49D6-8A04-0A1095D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FFECE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FFECE6"/>
                </a:solidFill>
                <a:latin typeface="Avenir Next"/>
                <a:ea typeface="Avenir Next"/>
                <a:cs typeface="Avenir Next"/>
              </a:rPr>
              <a:t>VPorkPay joins commerce and working capital without hiding who must sign each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C0381-EC52-485B-B477-0DB175DC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Problem → product → 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76579-BB48-43F8-8C26-1C63F3FD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29350"/>
            <a:ext cx="3009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BUILD ON ARC ·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1016824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5CBCED-0A98-4FE7-A7CA-F4AAEB66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A21BA-0A18-47B8-BD67-6FCF16D0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6D158-F12F-4724-B639-660D2314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VPorkPay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190E7-A1D4-4FE5-A2AC-C777DE05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6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6C7EA-A3CD-4421-9DEB-BA6E0025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THE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A08EF-4DC5-4C29-8B4A-BF0CFA19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One checkout. Two honest outcomes.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F491A-1DD6-4DB4-8A9E-54BC2A82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2956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1E9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998F4-3A9B-4902-A38D-6FE9351D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57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C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3E9C4-1637-46F8-84F2-6A66CFE9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036B0-7377-4D4E-B603-355FD755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Build the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35FB9-882E-442F-8748-7F7F6226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Verified pork cuts, quantity and delivery details.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BB9CB-E151-454E-B4D9-30A589A4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81300"/>
            <a:ext cx="32956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1E9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4B9D7-F897-4E5A-8F4A-C7F4A9F6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457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C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A3955-9148-4888-BCAD-038F838E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7B398-F609-43F0-8B58-9F077B19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Read wallet balance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EB172-065A-4EE8-9CAE-62FF8C0E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6237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VPorkPay compares the cart total with test USDC.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FAA58-8AC5-4F4E-8B9D-3658C4BC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32956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7211D"/>
          </a:solidFill>
          <a:ln xmlns:a="http://schemas.openxmlformats.org/drawingml/2006/main" w="9525">
            <a:solidFill>
              <a:srgbClr val="1721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A4BE9-B141-455D-854B-861457CE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457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FEAFD-123B-47AC-9CD8-585EA49D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C3FF0-BAB3-4A08-8BD0-F26D35D5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Settle or finance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47A72-37B3-4AA9-9D29-E84E895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6237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C7D0C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C7D0CB"/>
                </a:solidFill>
                <a:latin typeface="Avenir Next"/>
                <a:ea typeface="Avenir Next"/>
                <a:cs typeface="Avenir Next"/>
              </a:rPr>
              <a:t>Pay merchant directly, or send only the shortfall for approval.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E7C35-2254-4DEE-870B-413A5C31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219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C7705A-18DC-437C-9208-D2CA2C3E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A82B1-0902-4C88-BD2E-B1CF9174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CAF16-C075-40F7-A498-65390C47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rPr>
              <a:t>FUNDED BUYER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B3FB8A-083B-4661-A275-D2DB5627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USDC transfers directly to the merchant wallet.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84DA2-4829-47B8-A696-479C0CED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91050"/>
            <a:ext cx="5543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8E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1D2A9-CD15-43C3-952C-9E229DF9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B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7006CD-EA9C-4BBE-A1C5-91820D3F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244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A18233-DB72-4433-A0DE-0FE3FB73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805B0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805B00"/>
                </a:solidFill>
                <a:latin typeface="Avenir Next"/>
                <a:ea typeface="Avenir Next"/>
                <a:cs typeface="Avenir Next"/>
              </a:rPr>
              <a:t>CASH SHORTFALL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F2ECF6-3B0C-43F3-A000-FE09F4CA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292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Merchant signs openDebt; APR is fixed for that order.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E73DDA-1EDE-4E43-86A8-38E1B391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No synthetic balance · no automatic approval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E26310-5BC0-4DD7-A927-15B0C47B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29350"/>
            <a:ext cx="3009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BUILD ON ARC ·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1142134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78F04-39DF-4518-AFF6-D41EFCFC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B2859-B8AE-439D-B3F2-09AD8F3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1D5E3-BBD5-4B1E-BDD5-FFE81FEA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VPorkPay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A7C71-53CD-4F59-9386-9E3B26AD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6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AAB4A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AAB4A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594C3-32F9-4E72-9CC1-478C3652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E8B64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8B64B"/>
                </a:solidFill>
                <a:latin typeface="Avenir Next"/>
                <a:ea typeface="Avenir Next"/>
                <a:cs typeface="Avenir Next"/>
              </a:rPr>
              <a:t>LIVE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8A9E5-A4B5-4AE2-851B-C0808C1A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The interface reads like a merchant ledger.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33B7E-8D79-4729-B32F-08A6FE2C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2956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24302B"/>
          </a:solidFill>
          <a:ln xmlns:a="http://schemas.openxmlformats.org/drawingml/2006/main" w="9525">
            <a:solidFill>
              <a:srgbClr val="3E4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149C7-2C0F-4811-90AA-5A185A3B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E8B64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8B64B"/>
                </a:solidFill>
                <a:latin typeface="Avenir Next"/>
                <a:ea typeface="Avenir Next"/>
                <a:cs typeface="Avenir Next"/>
              </a:rPr>
              <a:t>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265B0-07BF-4652-9D7F-5977C57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Browse cuts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67A3D-50C3-416D-A369-6274362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72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7D0C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C7D0CB"/>
                </a:solidFill>
                <a:latin typeface="Avenir Next"/>
                <a:ea typeface="Avenir Next"/>
                <a:cs typeface="Avenir Next"/>
              </a:rPr>
              <a:t>Build a cart by kilogram and supplier.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8DA6A-9C05-472F-800D-C54244FE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47950"/>
            <a:ext cx="32956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D94B32"/>
          </a:solidFill>
          <a:ln xmlns:a="http://schemas.openxmlformats.org/drawingml/2006/main" w="9525">
            <a:solidFill>
              <a:srgbClr val="D94B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F4169-7B48-4693-B5AF-75D2BD1C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FED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EDE8"/>
                </a:solidFill>
                <a:latin typeface="Avenir Next"/>
                <a:ea typeface="Avenir Next"/>
                <a:cs typeface="Avenir Next"/>
              </a:rPr>
              <a:t>MY 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02E0B-4624-4829-8A97-F5CE1A4E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766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See paid vs. owed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72950-FB87-4587-92CB-2F9567ED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00500"/>
            <a:ext cx="272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FFED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FFEDE8"/>
                </a:solidFill>
                <a:latin typeface="Avenir Next"/>
                <a:ea typeface="Avenir Next"/>
                <a:cs typeface="Avenir Next"/>
              </a:rPr>
              <a:t>Order time, payment mode, APR, accrued interest and due amount.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8239B-C016-468E-BAA7-A47FD22E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2956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24302B"/>
          </a:solidFill>
          <a:ln xmlns:a="http://schemas.openxmlformats.org/drawingml/2006/main" w="9525">
            <a:solidFill>
              <a:srgbClr val="3E4B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809BC-DD63-4566-B759-27CA3717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146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E8B64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8B64B"/>
                </a:solidFill>
                <a:latin typeface="Avenir Next"/>
                <a:ea typeface="Avenir Next"/>
                <a:cs typeface="Avenir Next"/>
              </a:rPr>
              <a:t>SELLER 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BBA9B-A2B7-4A85-B89E-FD474C5E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766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Operate credit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D5FDE-F842-4BAB-BF30-E6A4BC18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0"/>
            <a:ext cx="272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7D0C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C7D0CB"/>
                </a:solidFill>
                <a:latin typeface="Avenir Next"/>
                <a:ea typeface="Avenir Next"/>
                <a:cs typeface="Avenir Next"/>
              </a:rPr>
              <a:t>Only approved seller wallets see fulfilment and debt actions.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C5CF1-0C14-4F98-92A7-6AB050F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OPEN LIVE MVP  </a:t>
            </a:r>
            <a:r>
              <a:rPr sz="1050" b="1" u="sng">
                <a:solidFill>
                  <a:srgbClr val="FFFDF8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d3c19f905d9b4a12"/>
              </a:rPr>
              <a:t>https://vpork.xyz/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76B3A-0467-47D9-9E47-B594E741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3400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C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5BB9F-6D51-487F-B866-2BD66B72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53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SUPABASE SYNC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B138B-C1CE-449C-8ACC-F97B2DB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334000"/>
            <a:ext cx="1371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577C5-15F2-470C-8906-306C9FA7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3530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WALLET-OWNED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E8B63-D107-4649-AE80-2308F21F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AAB4A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AAB4AE"/>
                </a:solidFill>
                <a:latin typeface="Avenir Next"/>
                <a:ea typeface="Avenir Next"/>
                <a:cs typeface="Avenir Next"/>
              </a:rPr>
              <a:t>Latest release · responsive web 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D2162-04C8-4C76-AE7C-F450029C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29350"/>
            <a:ext cx="3009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AAB4A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AAB4AE"/>
                </a:solidFill>
                <a:latin typeface="Avenir Next"/>
                <a:ea typeface="Avenir Next"/>
                <a:cs typeface="Avenir Next"/>
              </a:rPr>
              <a:t>BUILD ON ARC ·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282970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BA4DB2-FD80-41FD-AA73-55822743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10A8A-BFC1-4964-830A-F4A5828C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D6E12-0552-4704-A1F9-E88FE49D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VPorkPay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D09DB-C663-431E-9A5E-F15A3F90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6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BFE8D-4805-4BAB-B777-84149E86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ONCHAIN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10AB5-B4EF-494D-9FF6-1EC0FFAD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VPorkPay v1.1 is deployed and source-verified on Arc.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9BC8F-4F52-4814-8513-8230E4BA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3718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6943D-2848-4B63-B496-1B703079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D89E0-FFE5-4D39-A02A-CF19D48A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rPr>
              <a:t>Arc Testnet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31908-80F4-441F-8F02-DD316198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Chain ID 5042002 · USDC gas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3A60E-F768-4917-ACEC-4CC89CFB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33718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A95C8-F7A4-4B91-B51E-E8185B56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34948-8404-4162-B60B-5C351A54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Source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B5C4F-B9FF-4D12-8D00-47AD506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Solidity 0.8.24 · optimizer 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0305B-C564-414C-B682-90E63AEE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3771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82E80-EB4D-41BB-AB5F-06F1C075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MONEY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E8AAD-2907-45AB-97AD-BB47D6FF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E8B64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E8B64B"/>
                </a:solidFill>
                <a:latin typeface="Avenir Next"/>
                <a:ea typeface="Avenir Next"/>
                <a:cs typeface="Avenir Next"/>
              </a:rPr>
              <a:t>USDC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852CC-4141-4CAC-B202-C1996C8D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Official Arc Testnet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7E343-A950-44C0-B626-A91A6F9C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FE97C-5DD3-4A7C-84E2-C06C144B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57803-9A40-49E1-B9DC-E9A392F9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0xd9dA…F396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17AE8-F293-4DD6-B83F-5943964C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u="sng">
                <a:solidFill>
                  <a:srgbClr val="17211D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35c445c55cfe415e"/>
              </a:rPr>
              <a:t>View verified contract and deployment transaction on Arcscan 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6C7F14-EE8A-421E-A3B0-951809CF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AUTHORITY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538993-A6EF-4589-A6CB-21B2FE11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48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Merchant signs credit · Buyer signs repayment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F33DDC-480F-43C7-8A5C-34E0F61C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91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The contract—not the browser—remains authoritative for principal, APR and amount due.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01B54D-38A0-4D06-9DB1-69BDB059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Public evidence · independently inspectable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147D06-B884-4DC3-8B10-4CEF01E9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29350"/>
            <a:ext cx="3009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BUILD ON ARC ·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164347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F4375-1725-4A9A-8633-99C6AE72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A0F66-C28B-45A1-A440-F6C02309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1FCF2-E9E1-4AEB-BDF0-DADBCFF0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VPorkPay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BB621-30F4-4A5B-BAFE-8CF804F4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6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F1CC0-E2DD-404A-8510-7870090E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CIRCLE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BBC78-0E78-4E90-8925-37C3593A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Meaningful use, with implementation status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30305-6154-4D9A-B281-A7A4F3B1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ARC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E92C0-00C0-4965-9997-E236F2C1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38425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C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B2BB6-C341-4B1A-9D1D-20ED6363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574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B57B6-D9BD-4A79-9E78-BC69FFEE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Settlement, contract execution and USDC-denominated gas on chain 5042002.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1F0B0-D8FF-4B7D-B4E5-77F5840D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4B84C-4716-4B61-ABA3-878EBF8B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USDC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B2FD2-64AB-4B5F-AD9E-15D3F7BD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81375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C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511D2-F96B-4A14-8A5C-43BF85B4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04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09075-D3C5-4378-8C10-E84D8A23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71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Direct order payment, contract repayment and official test token accounting.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BB1AC-E92C-4F4C-BF84-74E928E0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D43FD-ACD4-4086-8C20-F66954EC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APP KIT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244D0-96DB-4837-9C6C-D02E7E48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24325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C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E03B4-C020-431B-AA55-FFDBA0A3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433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8C400-05C5-4DC5-94AC-A93026F2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148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Two-way CCTP bridge between Ethereum Sepolia and Arc Testnet in checkout.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032F1-01DF-4CF5-A453-05851327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1EFF1-2628-44CE-82E0-3A5BD65D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AGENT STACK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5B1BE-C17C-4930-B8A4-858A5AE5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67275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B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9A82C-7F44-4D87-A851-440C21B7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42EB8-B719-4F0E-8D65-0BB27E62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Circle CLI procurement runner with merchant allowlist, order cap and human confirmation.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BBC7C-6639-4DED-AFE9-56B400FB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INSPECT IMPLEMENTATION  </a:t>
            </a:r>
            <a:r>
              <a:rPr sz="975" b="1" u="sng">
                <a:solidFill>
                  <a:srgbClr val="17211D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a8d5ddea28c74af7"/>
              </a:rPr>
              <a:t>github.com/vybao39-rgb/porkpay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F5C96-2946-4565-AB39-DD7E4B5B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Status labels separate shipped flows from agent-ready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E5E3BC-B2F3-4589-B8E4-FFD05D19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29350"/>
            <a:ext cx="3009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BUILD ON ARC ·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1383587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63DA4E-0F21-4A59-804D-8B957B7F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EA890-A203-4CB7-A2F9-1F56B7C4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39F93-4191-4DB7-B3DC-0D3BCD22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VPorkPay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35381-8FBB-44F0-BFA2-317CDF7D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6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5F902-80F5-416E-A275-FC22E3BC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TRUST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CCB97-21AF-413F-860A-9ED32E99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Every state has one accountable owner.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87E35-017A-4721-8A71-78C9B0BB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89047-BEE3-400E-BDD2-F028ED63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rPr>
              <a:t>BUYER WALLET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1106A-21E9-49FC-BCB7-742AE62E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Signs login proof (no gas), payment and repayment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0E5A8-F050-4056-9998-28DDDBAB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909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EAB7B-ABCA-4736-9611-86250003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33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3C752-D104-4ED7-8DAC-BD3338C7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33775"/>
            <a:ext cx="76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440CF-8FFB-461D-A919-26AB88D8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88FB4-E1F3-4CFE-BDE1-9394FF28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rPr>
              <a:t>VPORKPAY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7A426-3BA8-41BD-BB89-B8091896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Builds order and reads wallet / contract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8F4F2-B790-4A34-93F3-0494040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909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9DC7C-6F35-45F3-8208-B78DFC6A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33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C8E3F-E065-455F-B4AC-430EBDAB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33775"/>
            <a:ext cx="76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F246D-FC65-4B92-BDD8-C66F4B9C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956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072C2-BAAD-44F6-8C35-E6B0F622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432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C665A"/>
                </a:solidFill>
                <a:latin typeface="Avenir Next"/>
                <a:ea typeface="Avenir Next"/>
                <a:cs typeface="Avenir Next"/>
              </a:rPr>
              <a:t>SUPABASE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1A98A-C34A-4DE9-868B-F2BF827C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242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Stores catalog, order and fulfilment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0CFD09-0870-4E68-85AA-29A73CD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909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80D21-782D-48E6-8B68-120D6CB1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33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3DEB4-E1AC-4645-93F6-9C8D3A92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533775"/>
            <a:ext cx="76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C6B320-C2E6-47CB-9CF8-6389C8B4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E8AE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BBCC68-4CAC-4EE8-AA92-F9827D85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805B0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805B00"/>
                </a:solidFill>
                <a:latin typeface="Avenir Next"/>
                <a:ea typeface="Avenir Next"/>
                <a:cs typeface="Avenir Next"/>
              </a:rPr>
              <a:t>ARC CONTRACT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34935F-E42A-4AC9-BCF3-3D2E2889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Stores debt, APR and amount due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D653A-5954-416E-9259-3CA0B239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909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582E79-4353-443F-B4A5-518AF929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4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083116-C1BC-437F-853C-3E2EB86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533775"/>
            <a:ext cx="76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80B19D-790E-4940-8828-7EE1BF0C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DAD3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EEF421-6194-4A48-8EDD-49F58441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432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MERCHANT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9212D6-83EB-42EC-876F-B4E0018D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242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rPr>
              <a:t>Receives USDC and approves credit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A70CCD-3B7F-4BEC-BEC4-1E888F15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NO CUSTODIAL KEYS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3F56BA-BAD2-4B15-B503-D2F39839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The app never stores seed phrases or private keys.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AE746F-033B-4CAE-8049-914E7DFA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6250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NO SILENT CREDIT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F397BC-B8EE-485E-9E47-433E4243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292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Merchant approval is a signed Arc transaction.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C027FA-D1D3-4ED0-B07A-3FFAD481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NO HIDDEN BALANCE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14AE06-2374-4E3B-B00E-7E8FFE66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292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Debt and repayment remain readable onchain.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9B1E9D-4145-4327-819B-00DCA980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Supabase for operations · Arc for money and debt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AE498B-438F-4A20-A302-68BC87FD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29350"/>
            <a:ext cx="3009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6F746E"/>
                </a:solidFill>
                <a:latin typeface="Avenir Next"/>
                <a:ea typeface="Avenir Next"/>
                <a:cs typeface="Avenir Next"/>
              </a:rPr>
              <a:t>BUILD ON ARC ·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561185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94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FED2D-4B12-46E6-8CAA-70F50639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4AC99-4F23-4588-A1DC-E1082B35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70CAD-F0C5-4C19-B616-D6140CCA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2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EEDF5-03AC-43F6-9770-45951610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10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FECE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ECE6"/>
                </a:solidFill>
                <a:latin typeface="Avenir Next"/>
                <a:ea typeface="Avenir Next"/>
                <a:cs typeface="Avenir Next"/>
              </a:rPr>
              <a:t>FINAL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54BD0-0538-49BF-9F46-44C89DC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90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39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Pork trade,</a:t>
            </a:r>
          </a:p>
          <a:p xmlns:a="http://schemas.openxmlformats.org/drawingml/2006/main">
            <a:pPr algn="l">
              <a:buNone/>
              <a:defRPr sz="39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3900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financed on Arc.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0A791-036F-4045-AB9D-7C1E8E93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ECE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ECE6"/>
                </a:solidFill>
                <a:latin typeface="Avenir Next"/>
                <a:ea typeface="Avenir Next"/>
                <a:cs typeface="Avenir Next"/>
              </a:rPr>
              <a:t>A functional MVP, public code, a 180-second demo and an editable final deck—released from one source of truth.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8AB2E-6BB5-4C06-A65F-2542B25C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600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A5221-F2BA-4552-B259-84CCB613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FFDF8"/>
                </a:solidFill>
                <a:latin typeface="Avenir Next"/>
                <a:ea typeface="Avenir Next"/>
                <a:cs typeface="Avenir Next"/>
              </a:rPr>
              <a:t>READY TO JUDGE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BFAE8-E4A5-45DA-BBC3-056D3F85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24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29567-2714-48AA-B6B4-39CC6015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859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u="sng">
                <a:solidFill>
                  <a:srgbClr val="17211D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40991c35411b4242"/>
              </a:rPr>
              <a:t>https://vpork.xyz/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FC68B-62DA-4CD9-BB79-6777DB51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8120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9854E-E1A3-4CE9-80C0-82FFB8B9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0C693-5676-4270-A8A2-897EB4BC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u="sng">
                <a:solidFill>
                  <a:srgbClr val="17211D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aee2901f39d543f8"/>
              </a:rPr>
              <a:t>https://github.com/vybao39-rgb/porkpay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AF0AE-5C99-4EE5-94C1-2AF654EC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622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EF7EE-9548-435C-8923-E9960548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VIDEO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FF551-4093-4875-A4C3-8EB583D2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u="sng">
                <a:solidFill>
                  <a:srgbClr val="17211D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661a192b306f4fc5"/>
              </a:rPr>
              <a:t>https://vpork.xyz/VPorkPay-Final-Demo.mp4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F89D8-17E4-44ED-B1FF-D7DF1E91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6B20D-CC17-4C89-AD9B-7B8E0931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67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DECK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41291-24EE-43FB-885B-443A2D02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u="sng">
                <a:solidFill>
                  <a:srgbClr val="17211D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5e696ea1a2e84dac"/>
              </a:rPr>
              <a:t>https://vpork.xyz/VPorkPay-Final-Submission-Deck.pptx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5B48F-CBF0-4429-8CA4-6312B872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2435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280EE-DFCC-4461-B660-EDC73F9C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482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D94B32"/>
                </a:solidFill>
                <a:latin typeface="Avenir Next"/>
                <a:ea typeface="Avenir Next"/>
                <a:cs typeface="Avenir Next"/>
              </a:rPr>
              <a:t>HUB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245B6-AD70-4C9C-8AFA-F980980F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101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17211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u="sng">
                <a:solidFill>
                  <a:srgbClr val="17211D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456052f4c5764fb5"/>
              </a:rPr>
              <a:t>https://vpork.xyz/submission.html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E84B9-B7CE-4C39-9564-2BD7F69D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FFECE6"/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FECE6"/>
                </a:solidFill>
                <a:latin typeface="Avenir Next"/>
                <a:ea typeface="Avenir Next"/>
                <a:cs typeface="Avenir Next"/>
              </a:rPr>
              <a:t>VPorkPay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98063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2026-08-09T15:51:47.2840000Z</dcterms:created>
  <dcterms:modified xsi:type="dcterms:W3CDTF">2026-08-09T15:51:47.2840000Z</dcterms:modified>
</coreProperties>
</file>