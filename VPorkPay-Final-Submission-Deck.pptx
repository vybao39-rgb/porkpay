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725bedf6787407a" /><Relationship Type="http://schemas.openxmlformats.org/officeDocument/2006/relationships/extended-properties" Target="/docProps/app.xml" Id="R398f73d8a7c04a03" /><Relationship Type="http://schemas.openxmlformats.org/officeDocument/2006/relationships/officeDocument" Target="/ppt/presentation.xml" Id="R590b662187e24f7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5174b5681a44f44"/>
  </p:sldMasterIdLst>
  <p:notesMasterIdLst>
    <p:notesMasterId xmlns:r="http://schemas.openxmlformats.org/officeDocument/2006/relationships" r:id="Rbf2e04e6e39d44cb"/>
  </p:notesMasterIdLst>
  <p:sldIdLst>
    <p:sldId xmlns:r="http://schemas.openxmlformats.org/officeDocument/2006/relationships" id="256" r:id="Rf1daf05bd16844f2"/>
    <p:sldId xmlns:r="http://schemas.openxmlformats.org/officeDocument/2006/relationships" id="257" r:id="Rfc9864d693a2466c"/>
    <p:sldId xmlns:r="http://schemas.openxmlformats.org/officeDocument/2006/relationships" id="258" r:id="R7fc8689538584432"/>
    <p:sldId xmlns:r="http://schemas.openxmlformats.org/officeDocument/2006/relationships" id="259" r:id="Rca00872ff4974375"/>
    <p:sldId xmlns:r="http://schemas.openxmlformats.org/officeDocument/2006/relationships" id="260" r:id="R98c52f9339804fa0"/>
    <p:sldId xmlns:r="http://schemas.openxmlformats.org/officeDocument/2006/relationships" id="261" r:id="R225cb0d8f3b54d7a"/>
    <p:sldId xmlns:r="http://schemas.openxmlformats.org/officeDocument/2006/relationships" id="262" r:id="R8d939444bbef4b1e"/>
    <p:sldId xmlns:r="http://schemas.openxmlformats.org/officeDocument/2006/relationships" id="263" r:id="R664c9edf47fb432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d5b57903d354bad" /><Relationship Type="http://schemas.openxmlformats.org/officeDocument/2006/relationships/slideMaster" Target="/ppt/slideMasters/slideMaster1.xml" Id="R35174b5681a44f44" /><Relationship Type="http://schemas.openxmlformats.org/officeDocument/2006/relationships/notesMaster" Target="/ppt/notesMasters/notesMaster1.xml" Id="Rbf2e04e6e39d44cb" /><Relationship Type="http://schemas.openxmlformats.org/officeDocument/2006/relationships/presProps" Target="/ppt/presProps.xml" Id="R8900ba4b809c44d2" /><Relationship Type="http://schemas.openxmlformats.org/officeDocument/2006/relationships/tableStyles" Target="/ppt/tableStyles.xml" Id="R8433952a929a46ba" /><Relationship Type="http://schemas.openxmlformats.org/officeDocument/2006/relationships/slide" Target="/ppt/slides/slide1.xml" Id="Rf1daf05bd16844f2" /><Relationship Type="http://schemas.openxmlformats.org/officeDocument/2006/relationships/slide" Target="/ppt/slides/slide2.xml" Id="Rfc9864d693a2466c" /><Relationship Type="http://schemas.openxmlformats.org/officeDocument/2006/relationships/slide" Target="/ppt/slides/slide3.xml" Id="R7fc8689538584432" /><Relationship Type="http://schemas.openxmlformats.org/officeDocument/2006/relationships/slide" Target="/ppt/slides/slide4.xml" Id="Rca00872ff4974375" /><Relationship Type="http://schemas.openxmlformats.org/officeDocument/2006/relationships/slide" Target="/ppt/slides/slide5.xml" Id="R98c52f9339804fa0" /><Relationship Type="http://schemas.openxmlformats.org/officeDocument/2006/relationships/slide" Target="/ppt/slides/slide6.xml" Id="R225cb0d8f3b54d7a" /><Relationship Type="http://schemas.openxmlformats.org/officeDocument/2006/relationships/slide" Target="/ppt/slides/slide7.xml" Id="R8d939444bbef4b1e" /><Relationship Type="http://schemas.openxmlformats.org/officeDocument/2006/relationships/slide" Target="/ppt/slides/slide8.xml" Id="R664c9edf47fb432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389da8da79b484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8dbe3cf6b7a4bee" /><Relationship Type="http://schemas.openxmlformats.org/officeDocument/2006/relationships/notesMaster" Target="/ppt/notesMasters/notesMaster1.xml" Id="Re61b9073a86b4ad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a71705d983545de" /><Relationship Type="http://schemas.openxmlformats.org/officeDocument/2006/relationships/notesMaster" Target="/ppt/notesMasters/notesMaster1.xml" Id="R625e96289dff4e7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75ef80d5e734297" /><Relationship Type="http://schemas.openxmlformats.org/officeDocument/2006/relationships/notesMaster" Target="/ppt/notesMasters/notesMaster1.xml" Id="R3a7a17a342e64de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15a7426a60b41aa" /><Relationship Type="http://schemas.openxmlformats.org/officeDocument/2006/relationships/notesMaster" Target="/ppt/notesMasters/notesMaster1.xml" Id="R0178e6288739495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e381c943fec437a" /><Relationship Type="http://schemas.openxmlformats.org/officeDocument/2006/relationships/notesMaster" Target="/ppt/notesMasters/notesMaster1.xml" Id="Rf9e437c6a79f415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b793ccd9eb74623" /><Relationship Type="http://schemas.openxmlformats.org/officeDocument/2006/relationships/notesMaster" Target="/ppt/notesMasters/notesMaster1.xml" Id="R9e7ce27084d34f6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909b86d435748df" /><Relationship Type="http://schemas.openxmlformats.org/officeDocument/2006/relationships/notesMaster" Target="/ppt/notesMasters/notesMaster1.xml" Id="Rb46aadf873c7424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24547d38cc8426a" /><Relationship Type="http://schemas.openxmlformats.org/officeDocument/2006/relationships/notesMaster" Target="/ppt/notesMasters/notesMaster1.xml" Id="R36e6f307225f4f0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one sentence: VPorkPay turns a pork order into either a direct USDC payment or a merchant-approved credit position.</a:t>
            </a:r>
          </a:p>
          <a:p xmlns:a="http://schemas.openxmlformats.org/drawingml/2006/main">
            <a:r>
              <a:t>The live MVP, public repository, 180-second demo and this deck are all published from the same release.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https://vpork.xyz/</a:t>
            </a:r>
          </a:p>
          <a:p xmlns:a="http://schemas.openxmlformats.org/drawingml/2006/main">
            <a:r>
              <a:t>https://github.com/vybao39-rgb/porkpay</a:t>
            </a:r>
          </a:p>
          <a:p xmlns:a="http://schemas.openxmlformats.org/drawingml/2006/main">
            <a:r>
              <a:t>https://testnet.arcscan.app/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the problem is not only checkout. It is coordination between product, payment and short-term credit.</a:t>
            </a:r>
          </a:p>
          <a:p xmlns:a="http://schemas.openxmlformats.org/drawingml/2006/main">
            <a:r>
              <a:t>VPorkPay keeps the commercial order offchain in Supabase while every money movement and active debt stays independently verifiable on Arc.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https://vpork.xyz/</a:t>
            </a:r>
          </a:p>
          <a:p xmlns:a="http://schemas.openxmlformats.org/drawingml/2006/main">
            <a:r>
              <a:t>https://github.com/vybao39-rgb/porkpay</a:t>
            </a:r>
          </a:p>
          <a:p xmlns:a="http://schemas.openxmlformats.org/drawingml/2006/main">
            <a:r>
              <a:t>https://testnet.arcscan.app/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The application never pretends a buyer is funded.</a:t>
            </a:r>
          </a:p>
          <a:p xmlns:a="http://schemas.openxmlformats.org/drawingml/2006/main">
            <a:r>
              <a:t>If the wallet is funded, the checkout sends the order value directly to the merchant. If not, only the shortfall becomes a request; the merchant must explicitly open the debt onchain.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https://vpork.xyz/</a:t>
            </a:r>
          </a:p>
          <a:p xmlns:a="http://schemas.openxmlformats.org/drawingml/2006/main">
            <a:r>
              <a:t>https://github.com/vybao39-rgb/porkpay</a:t>
            </a:r>
          </a:p>
          <a:p xmlns:a="http://schemas.openxmlformats.org/drawingml/2006/main">
            <a:r>
              <a:t>https://testnet.arcscan.app/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Demonstrate the three surfaces from the root URL. Buyer wallets do not see Seller Hub.</a:t>
            </a:r>
          </a:p>
          <a:p xmlns:a="http://schemas.openxmlformats.org/drawingml/2006/main">
            <a:r>
              <a:t>The redesigned orders page separates paid orders from active debts and calculates interest per credit order using the onchain amount due.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https://vpork.xyz/</a:t>
            </a:r>
          </a:p>
          <a:p xmlns:a="http://schemas.openxmlformats.org/drawingml/2006/main">
            <a:r>
              <a:t>https://github.com/vybao39-rgb/porkpay</a:t>
            </a:r>
          </a:p>
          <a:p xmlns:a="http://schemas.openxmlformats.org/drawingml/2006/main">
            <a:r>
              <a:t>https://testnet.arcscan.app/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Point to the verified source on Arcscan. The contract pins the merchant and official test USDC address.</a:t>
            </a:r>
          </a:p>
          <a:p xmlns:a="http://schemas.openxmlformats.org/drawingml/2006/main">
            <a:r>
              <a:t>Do not claim an agent payment that has not been signed. The deck only claims deployed credit, direct USDC payment and a working App Kit bridge flow where public evidence exists.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https://vpork.xyz/</a:t>
            </a:r>
          </a:p>
          <a:p xmlns:a="http://schemas.openxmlformats.org/drawingml/2006/main">
            <a:r>
              <a:t>https://github.com/vybao39-rgb/porkpay</a:t>
            </a:r>
          </a:p>
          <a:p xmlns:a="http://schemas.openxmlformats.org/drawingml/2006/main">
            <a:r>
              <a:t>https://testnet.arcscan.app/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core submission is DeFi: USDC payment and merchant-approved lending on Arc.</a:t>
            </a:r>
          </a:p>
          <a:p xmlns:a="http://schemas.openxmlformats.org/drawingml/2006/main">
            <a:r>
              <a:t>App Kit is implemented as a CCTP bridge surface. Agent Stack is clearly labeled ready because a live Agent Wallet payment still requires a user-owned OTP and signature.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https://vpork.xyz/</a:t>
            </a:r>
          </a:p>
          <a:p xmlns:a="http://schemas.openxmlformats.org/drawingml/2006/main">
            <a:r>
              <a:t>https://github.com/vybao39-rgb/porkpay</a:t>
            </a:r>
          </a:p>
          <a:p xmlns:a="http://schemas.openxmlformats.org/drawingml/2006/main">
            <a:r>
              <a:t>https://testnet.arcscan.app/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core seriousness of the MVP: the database and blockchain are not pretending to be each other.</a:t>
            </a:r>
          </a:p>
          <a:p xmlns:a="http://schemas.openxmlformats.org/drawingml/2006/main">
            <a:r>
              <a:t>Supabase owns shared commerce state. The Arc contract owns active debt and repayment. The buyer and merchant retain wallet authority.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https://vpork.xyz/</a:t>
            </a:r>
          </a:p>
          <a:p xmlns:a="http://schemas.openxmlformats.org/drawingml/2006/main">
            <a:r>
              <a:t>https://github.com/vybao39-rgb/porkpay</a:t>
            </a:r>
          </a:p>
          <a:p xmlns:a="http://schemas.openxmlformats.org/drawingml/2006/main">
            <a:r>
              <a:t>https://testnet.arcscan.app/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the root URL. The submission hub contains all final artifacts and proof links.</a:t>
            </a:r>
          </a:p>
          <a:p xmlns:a="http://schemas.openxmlformats.org/drawingml/2006/main">
            <a:r>
              <a:t>Invite the jury to test the funded payment path first, then inspect the verified contract and credit lifecycle on Arcscan.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https://vpork.xyz/</a:t>
            </a:r>
          </a:p>
          <a:p xmlns:a="http://schemas.openxmlformats.org/drawingml/2006/main">
            <a:r>
              <a:t>https://github.com/vybao39-rgb/porkpay</a:t>
            </a:r>
          </a:p>
          <a:p xmlns:a="http://schemas.openxmlformats.org/drawingml/2006/main">
            <a:r>
              <a:t>https://testnet.arcscan.app/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97d9ef0de9498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2a8eb54ff28432c" /><Relationship Type="http://schemas.openxmlformats.org/officeDocument/2006/relationships/slideLayout" Target="/ppt/slideLayouts/slideLayout1.xml" Id="Rae6a050afd374ab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e6a050afd374ab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cff3355fdd427e" /><Relationship Type="http://schemas.openxmlformats.org/officeDocument/2006/relationships/image" Target="/ppt/media/image.png" Id="R2d131f458b8741b3" /><Relationship Type="http://schemas.openxmlformats.org/officeDocument/2006/relationships/notesSlide" Target="/ppt/notesSlides/notesSlide1.xml" Id="R8e0a050bf6654e2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d72cdefa654139" /><Relationship Type="http://schemas.openxmlformats.org/officeDocument/2006/relationships/notesSlide" Target="/ppt/notesSlides/notesSlide2.xml" Id="R865e453d6041472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140f9acd874c92" /><Relationship Type="http://schemas.openxmlformats.org/officeDocument/2006/relationships/notesSlide" Target="/ppt/notesSlides/notesSlide3.xml" Id="Rd6db7b525a75458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7ecfce266142df" /><Relationship Type="http://schemas.openxmlformats.org/officeDocument/2006/relationships/hyperlink" Target="https://vpork.xyz/" TargetMode="External" Id="Re773a3068e334c35" /><Relationship Type="http://schemas.openxmlformats.org/officeDocument/2006/relationships/notesSlide" Target="/ppt/notesSlides/notesSlide4.xml" Id="R312f49e16c90456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0c64af89284a61" /><Relationship Type="http://schemas.openxmlformats.org/officeDocument/2006/relationships/hyperlink" Target="https://testnet.arcscan.app/address/0xd9dAB755431664aDA2D13868674Ddb43FfDEF396?tab=contract" TargetMode="External" Id="R639ac84a0d634624" /><Relationship Type="http://schemas.openxmlformats.org/officeDocument/2006/relationships/notesSlide" Target="/ppt/notesSlides/notesSlide5.xml" Id="Rc251ff5ff0b649f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476237c4954240" /><Relationship Type="http://schemas.openxmlformats.org/officeDocument/2006/relationships/hyperlink" Target="https://github.com/vybao39-rgb/porkpay" TargetMode="External" Id="R1a65b75b2ac34dfd" /><Relationship Type="http://schemas.openxmlformats.org/officeDocument/2006/relationships/notesSlide" Target="/ppt/notesSlides/notesSlide6.xml" Id="R0065cc8fc1a34dc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e01a91b2b94309" /><Relationship Type="http://schemas.openxmlformats.org/officeDocument/2006/relationships/notesSlide" Target="/ppt/notesSlides/notesSlide7.xml" Id="R0d56afc11736439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152483335444dd" /><Relationship Type="http://schemas.openxmlformats.org/officeDocument/2006/relationships/hyperlink" Target="https://vpork.xyz/" TargetMode="External" Id="R9a2334681dc14ec6" /><Relationship Type="http://schemas.openxmlformats.org/officeDocument/2006/relationships/hyperlink" Target="https://github.com/vybao39-rgb/porkpay" TargetMode="External" Id="R1760d289fc37436c" /><Relationship Type="http://schemas.openxmlformats.org/officeDocument/2006/relationships/hyperlink" Target="https://vpork.xyz/VPorkPay-Final-Demo.mp4" TargetMode="External" Id="R10a738bb4879448f" /><Relationship Type="http://schemas.openxmlformats.org/officeDocument/2006/relationships/hyperlink" Target="https://vpork.xyz/VPorkPay-Final-Submission-Deck.pptx" TargetMode="External" Id="R52bc9928bfcf4bb3" /><Relationship Type="http://schemas.openxmlformats.org/officeDocument/2006/relationships/hyperlink" Target="https://vpork.xyz/submission.html" TargetMode="External" Id="R44052e605f834dbb" /><Relationship Type="http://schemas.openxmlformats.org/officeDocument/2006/relationships/notesSlide" Target="/ppt/notesSlides/notesSlide8.xml" Id="Rb8989a62bbd54f7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ED305F-78A6-48CD-8FC7-8AF83293F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239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1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33A78A-8C5D-4310-A21E-DB37991C3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1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66A9CD-6314-4D19-9914-C1EF7FB01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A213BD-14C1-4471-8EA1-263B42464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5524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defRPr>
            </a:pPr>
            <a:r>
              <a:rPr sz="900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rPr>
              <a:t>VP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0A1EDF-A489-4C15-BE5E-194654490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81025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0C665A"/>
                </a:solidFill>
                <a:latin typeface="Avenir Next"/>
                <a:ea typeface="Avenir Next"/>
                <a:cs typeface="Avenir Next"/>
              </a:defRPr>
            </a:pPr>
            <a:r>
              <a:rPr sz="825" b="1" i="0">
                <a:solidFill>
                  <a:srgbClr val="0C665A"/>
                </a:solidFill>
                <a:latin typeface="Avenir Next"/>
                <a:ea typeface="Avenir Next"/>
                <a:cs typeface="Avenir Next"/>
              </a:rPr>
              <a:t>BUILD ON ARC 2026 · DEFI TRACK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71D288-1D27-4074-A5EE-1988E5471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90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defRPr>
            </a:pPr>
            <a:r>
              <a:rPr sz="4350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rPr>
              <a:t>VPorkPay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30237A-9A3F-4178-B718-3D812E285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5905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200" b="1" i="0">
                <a:solidFill>
                  <a:srgbClr val="D94B32"/>
                </a:solidFill>
                <a:latin typeface="Avenir Next"/>
                <a:ea typeface="Avenir Next"/>
                <a:cs typeface="Avenir Next"/>
              </a:defRPr>
            </a:pPr>
            <a:r>
              <a:rPr sz="4200" b="1" i="0">
                <a:solidFill>
                  <a:srgbClr val="D94B32"/>
                </a:solidFill>
                <a:latin typeface="Avenir Next"/>
                <a:ea typeface="Avenir Next"/>
                <a:cs typeface="Avenir Next"/>
              </a:rPr>
              <a:t>Buy pork.</a:t>
            </a:r>
          </a:p>
          <a:p xmlns:a="http://schemas.openxmlformats.org/drawingml/2006/main">
            <a:pPr algn="l">
              <a:defRPr sz="4200" b="1" i="0">
                <a:solidFill>
                  <a:srgbClr val="D94B32"/>
                </a:solidFill>
                <a:latin typeface="Avenir Next"/>
                <a:ea typeface="Avenir Next"/>
                <a:cs typeface="Avenir Next"/>
              </a:defRPr>
            </a:pPr>
            <a:r>
              <a:rPr sz="4200" b="1" i="0">
                <a:solidFill>
                  <a:srgbClr val="D94B32"/>
                </a:solidFill>
                <a:latin typeface="Avenir Next"/>
                <a:ea typeface="Avenir Next"/>
                <a:cs typeface="Avenir Next"/>
              </a:rPr>
              <a:t>Keep cash moving.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1F6D9A-4ACF-43A9-A5AD-92EBB8AA6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86250"/>
            <a:ext cx="5619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F746E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6F746E"/>
                </a:solidFill>
                <a:latin typeface="Avenir Next"/>
                <a:ea typeface="Avenir Next"/>
                <a:cs typeface="Avenir Next"/>
              </a:rPr>
              <a:t>A working-capital marketplace where buyers settle in USDC or request merchant-approved onchain credit on Arc.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B1C227-1983-4595-BB5B-778889C9A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2381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0C66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656F4F-E553-4B18-BAFE-EC9286B42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435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rPr>
              <a:t>FUNCTIONAL MVP · ARC TESTNET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131f458b8741b3"/>
          <a:srcRect xmlns:a="http://schemas.openxmlformats.org/drawingml/2006/main" l="21455" t="0" r="2145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96200" y="876300"/>
            <a:ext cx="3886200" cy="5105400"/>
          </a:xfrm>
          <a:prstGeom xmlns:a="http://schemas.openxmlformats.org/drawingml/2006/main" prst="roundRect">
            <a:avLst>
              <a:gd name="adj" fmla="val 2941"/>
            </a:avLst>
          </a:prstGeom>
        </p:spPr>
      </p:pic>
    </p:spTree>
    <p:extLst>
      <p:ext uri="{BB962C8B-B14F-4D97-AF65-F5344CB8AC3E}">
        <p14:creationId xmlns:p14="http://schemas.microsoft.com/office/powerpoint/2010/main" val="201597167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5EF77A-5020-4E63-815C-793604A60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B18EF9-60A7-4626-9071-D3EA84FA9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209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75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defRPr>
            </a:pPr>
            <a:r>
              <a:rPr sz="675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rPr>
              <a:t>VP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95DA9D-C83E-41BF-B8BF-0E5A2E79A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6725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rPr>
              <a:t>VPorkPay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527664-A81C-4B28-BB86-A3003E2E0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466725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6F746E"/>
                </a:solidFill>
                <a:latin typeface="Avenir Next"/>
                <a:ea typeface="Avenir Next"/>
                <a:cs typeface="Avenir Next"/>
              </a:defRPr>
            </a:pPr>
            <a:r>
              <a:rPr sz="900" b="1" i="0">
                <a:solidFill>
                  <a:srgbClr val="6F746E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B4CB45-98E4-49E3-AE61-0B8CC4041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457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D94B32"/>
                </a:solidFill>
                <a:latin typeface="Avenir Next"/>
                <a:ea typeface="Avenir Next"/>
                <a:cs typeface="Avenir Next"/>
              </a:defRPr>
            </a:pPr>
            <a:r>
              <a:rPr sz="825" b="1" i="0">
                <a:solidFill>
                  <a:srgbClr val="D94B32"/>
                </a:solidFill>
                <a:latin typeface="Avenir Next"/>
                <a:ea typeface="Avenir Next"/>
                <a:cs typeface="Avenir Next"/>
              </a:rPr>
              <a:t>THE MARKET GAP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84E432-728D-4971-8A4E-A36379581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8858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109"/>
          </a:bodyPr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defRPr>
            </a:pPr>
            <a:r>
              <a:rPr sz="3450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rPr>
              <a:t>A simple order becomes three disconnected records.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CC22C5-B2FA-4E2B-9F7B-56798B3D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575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D94B32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D94B32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3B036A-1F57-4254-ABD5-2D6E7A922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384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rPr>
              <a:t>Product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0BFD20-1616-4DC5-998A-F0D18A27A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838450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F746E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6F746E"/>
                </a:solidFill>
                <a:latin typeface="Avenir Next"/>
                <a:ea typeface="Avenir Next"/>
                <a:cs typeface="Avenir Next"/>
              </a:rPr>
              <a:t>Price, weight and supplier are negotiated in chat or at the stall.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2314E6-D2C2-4323-B52A-526158D00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419475"/>
            <a:ext cx="674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7024CE-48BA-4655-8228-B626F2938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338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D94B32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D94B32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4BEF0B-F98A-4F5F-8D63-48F94581A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147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rPr>
              <a:t>Payment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3F2792-BEB0-4812-8D08-9DF338D57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714750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F746E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6F746E"/>
                </a:solidFill>
                <a:latin typeface="Avenir Next"/>
                <a:ea typeface="Avenir Next"/>
                <a:cs typeface="Avenir Next"/>
              </a:rPr>
              <a:t>Cash and bank transfers are difficult to reconcile with the order.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9E2A44-E2ED-4675-8F75-2EAC94756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295775"/>
            <a:ext cx="674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C64D85-76B0-4732-BC47-D2CC340A3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101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D94B32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D94B32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8E0E9E-2981-44AA-9115-BC1D1D5C7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5910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rPr>
              <a:t>Credit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B93452-B22C-4ACC-AE01-EA42AE654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591050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F746E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6F746E"/>
                </a:solidFill>
                <a:latin typeface="Avenir Next"/>
                <a:ea typeface="Avenir Next"/>
                <a:cs typeface="Avenir Next"/>
              </a:rPr>
              <a:t>Shortfalls become informal debt with no shared balance or repayment proof.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EE1053-427B-458D-8D0B-DCDD29090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05100"/>
            <a:ext cx="3009900" cy="2590800"/>
          </a:xfrm>
          <a:prstGeom xmlns:a="http://schemas.openxmlformats.org/drawingml/2006/main" prst="roundRect">
            <a:avLst>
              <a:gd name="adj" fmla="val 4412"/>
            </a:avLst>
          </a:prstGeom>
          <a:solidFill xmlns:a="http://schemas.openxmlformats.org/drawingml/2006/main">
            <a:srgbClr val="D9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B4EFC3-927C-4E8E-B0EC-EFA1BD97E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67050"/>
            <a:ext cx="2438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812"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rPr>
              <a:t>ONE ORDER</a:t>
            </a:r>
          </a:p>
          <a:p xmlns:a="http://schemas.openxmlformats.org/drawingml/2006/main">
            <a:pPr algn="l">
              <a:defRPr sz="2100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rPr>
              <a:t>ONE MONEY LAYER</a:t>
            </a:r>
          </a:p>
          <a:p xmlns:a="http://schemas.openxmlformats.org/drawingml/2006/main">
            <a:pPr algn="l">
              <a:defRPr sz="2100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rPr>
              <a:t>ONE AUDIT TRAIL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047786-D15B-49D6-8A04-0A1095DF7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47675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FFECE6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FFECE6"/>
                </a:solidFill>
                <a:latin typeface="Avenir Next"/>
                <a:ea typeface="Avenir Next"/>
                <a:cs typeface="Avenir Next"/>
              </a:rPr>
              <a:t>VPorkPay joins commerce and working capital without hiding who must sign each action.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CC0381-EC52-485B-B477-0DB175DC3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666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6F746E"/>
                </a:solidFill>
                <a:latin typeface="Avenir Next"/>
                <a:ea typeface="Avenir Next"/>
                <a:cs typeface="Avenir Next"/>
              </a:defRPr>
            </a:pPr>
            <a:r>
              <a:rPr sz="675" b="1" i="0">
                <a:solidFill>
                  <a:srgbClr val="6F746E"/>
                </a:solidFill>
                <a:latin typeface="Avenir Next"/>
                <a:ea typeface="Avenir Next"/>
                <a:cs typeface="Avenir Next"/>
              </a:rPr>
              <a:t>Problem → product → proof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76579-BB48-43F8-8C26-1C63F3FD0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229350"/>
            <a:ext cx="3009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75" b="1" i="0">
                <a:solidFill>
                  <a:srgbClr val="6F746E"/>
                </a:solidFill>
                <a:latin typeface="Avenir Next"/>
                <a:ea typeface="Avenir Next"/>
                <a:cs typeface="Avenir Next"/>
              </a:defRPr>
            </a:pPr>
            <a:r>
              <a:rPr sz="675" b="1" i="0">
                <a:solidFill>
                  <a:srgbClr val="6F746E"/>
                </a:solidFill>
                <a:latin typeface="Avenir Next"/>
                <a:ea typeface="Avenir Next"/>
                <a:cs typeface="Avenir Next"/>
              </a:rPr>
              <a:t>BUILD ON ARC · FINAL SUBMISSION</a:t>
            </a:r>
          </a:p>
        </p:txBody>
      </p:sp>
    </p:spTree>
    <p:extLst>
      <p:ext uri="{BB962C8B-B14F-4D97-AF65-F5344CB8AC3E}">
        <p14:creationId xmlns:p14="http://schemas.microsoft.com/office/powerpoint/2010/main" val="10168248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D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E5CBCED-0A98-4FE7-A7CA-F4AAEB66D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EA21BA-0A18-47B8-BD67-6FCF16D0D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209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75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defRPr>
            </a:pPr>
            <a:r>
              <a:rPr sz="675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rPr>
              <a:t>VP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06D158-F12F-4724-B639-660D2314D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6725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rPr>
              <a:t>VPorkPay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F190E7-A1D4-4FE5-A2AC-C777DE050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466725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6F746E"/>
                </a:solidFill>
                <a:latin typeface="Avenir Next"/>
                <a:ea typeface="Avenir Next"/>
                <a:cs typeface="Avenir Next"/>
              </a:defRPr>
            </a:pPr>
            <a:r>
              <a:rPr sz="900" b="1" i="0">
                <a:solidFill>
                  <a:srgbClr val="6F746E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06C7EA-A3CD-4421-9DEB-BA6E00254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457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D94B32"/>
                </a:solidFill>
                <a:latin typeface="Avenir Next"/>
                <a:ea typeface="Avenir Next"/>
                <a:cs typeface="Avenir Next"/>
              </a:defRPr>
            </a:pPr>
            <a:r>
              <a:rPr sz="825" b="1" i="0">
                <a:solidFill>
                  <a:srgbClr val="D94B32"/>
                </a:solidFill>
                <a:latin typeface="Avenir Next"/>
                <a:ea typeface="Avenir Next"/>
                <a:cs typeface="Avenir Next"/>
              </a:rPr>
              <a:t>THE PRODUCT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4A08EF-4DC5-4C29-8B4A-BF0CFA199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8858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defRPr>
            </a:pPr>
            <a:r>
              <a:rPr sz="3450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rPr>
              <a:t>One checkout. Two honest outcomes.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5F491A-1DD6-4DB4-8A9E-54BC2A829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329565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4F1E9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5998F4-3A9B-4902-A38D-6FE9351DF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4572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0C66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43E9C4-1637-46F8-84F2-6A66CFE9C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8036B0-7377-4D4E-B603-355FD7557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90900"/>
            <a:ext cx="2857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rPr>
              <a:t>Build the order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D35FB9-882E-442F-8748-7F7F6226D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62375"/>
            <a:ext cx="2857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F746E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6F746E"/>
                </a:solidFill>
                <a:latin typeface="Avenir Next"/>
                <a:ea typeface="Avenir Next"/>
                <a:cs typeface="Avenir Next"/>
              </a:rPr>
              <a:t>Verified pork cuts, quantity and delivery details.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8BB9CB-E151-454E-B4D9-30A589A47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781300"/>
            <a:ext cx="329565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4F1E9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D4B9D7-F897-4E5A-8F4A-C7F4A9F6F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90850"/>
            <a:ext cx="4572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0C66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5A3955-9148-4888-BCAD-038F838EE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0990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E7B398-F609-43F0-8B58-9F077B19D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90900"/>
            <a:ext cx="2857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rPr>
              <a:t>Read wallet balance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9EB172-065A-4EE8-9CAE-62FF8C0E8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62375"/>
            <a:ext cx="2857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F746E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6F746E"/>
                </a:solidFill>
                <a:latin typeface="Avenir Next"/>
                <a:ea typeface="Avenir Next"/>
                <a:cs typeface="Avenir Next"/>
              </a:rPr>
              <a:t>VPorkPay compares the cart total with test USDC.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8FAA58-8AC5-4F4E-8B9D-3658C4BCF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81300"/>
            <a:ext cx="329565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17211D"/>
          </a:solidFill>
          <a:ln xmlns:a="http://schemas.openxmlformats.org/drawingml/2006/main" w="9525">
            <a:solidFill>
              <a:srgbClr val="17211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3A4BE9-B141-455D-854B-861457CEA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990850"/>
            <a:ext cx="4572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D9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5FEAFD-123B-47AC-9CD8-585EA49D3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00990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1C3FF0-BAB3-4A08-8BD0-F26D35D5A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390900"/>
            <a:ext cx="2857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rPr>
              <a:t>Settle or finance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347A72-37B3-4AA9-9D29-E84E895FD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762375"/>
            <a:ext cx="2857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C7D0CB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C7D0CB"/>
                </a:solidFill>
                <a:latin typeface="Avenir Next"/>
                <a:ea typeface="Avenir Next"/>
                <a:cs typeface="Avenir Next"/>
              </a:rPr>
              <a:t>Pay merchant directly, or send only the shortfall for approval.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9E7C35-2254-4DEE-870B-413A5C31F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52197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4F0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C7705A-18DC-437C-9208-D2CA2C3E2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768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66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CA82B1-0902-4C88-BD2E-B1CF9174B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19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rPr>
              <a:t>✓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74CAF16-C075-40F7-A498-65390C479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00600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0C665A"/>
                </a:solidFill>
                <a:latin typeface="Avenir Next"/>
                <a:ea typeface="Avenir Next"/>
                <a:cs typeface="Avenir Next"/>
              </a:defRPr>
            </a:pPr>
            <a:r>
              <a:rPr sz="750" b="1" i="0">
                <a:solidFill>
                  <a:srgbClr val="0C665A"/>
                </a:solidFill>
                <a:latin typeface="Avenir Next"/>
                <a:ea typeface="Avenir Next"/>
                <a:cs typeface="Avenir Next"/>
              </a:rPr>
              <a:t>FUNDED BUYER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B3FB8A-083B-4661-A275-D2DB56273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292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rPr>
              <a:t>USDC transfers directly to the merchant wallet.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1984DA2-4829-47B8-A696-479C0CED5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591050"/>
            <a:ext cx="55435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8E8A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E1D2A9-CD15-43C3-952C-9E229DF9A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768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B6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47006CD-EA9C-4BBE-A1C5-91820D3FA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24425"/>
            <a:ext cx="171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rPr>
              <a:t>↗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A18233-DB72-4433-A0DE-0FE3FB738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80060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805B00"/>
                </a:solidFill>
                <a:latin typeface="Avenir Next"/>
                <a:ea typeface="Avenir Next"/>
                <a:cs typeface="Avenir Next"/>
              </a:defRPr>
            </a:pPr>
            <a:r>
              <a:rPr sz="750" b="1" i="0">
                <a:solidFill>
                  <a:srgbClr val="805B00"/>
                </a:solidFill>
                <a:latin typeface="Avenir Next"/>
                <a:ea typeface="Avenir Next"/>
                <a:cs typeface="Avenir Next"/>
              </a:rPr>
              <a:t>CASH SHORTFALL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2F2ECF6-3B0C-43F3-A000-FE09F4CA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02920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rPr>
              <a:t>Merchant signs openDebt; APR is fixed for that order.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4E73DDA-1EDE-4E43-86A8-38E1B391E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666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6F746E"/>
                </a:solidFill>
                <a:latin typeface="Avenir Next"/>
                <a:ea typeface="Avenir Next"/>
                <a:cs typeface="Avenir Next"/>
              </a:defRPr>
            </a:pPr>
            <a:r>
              <a:rPr sz="675" b="1" i="0">
                <a:solidFill>
                  <a:srgbClr val="6F746E"/>
                </a:solidFill>
                <a:latin typeface="Avenir Next"/>
                <a:ea typeface="Avenir Next"/>
                <a:cs typeface="Avenir Next"/>
              </a:rPr>
              <a:t>No synthetic balance · no automatic approval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2E26310-5BC0-4DD7-A927-15B0C47B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229350"/>
            <a:ext cx="3009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75" b="1" i="0">
                <a:solidFill>
                  <a:srgbClr val="6F746E"/>
                </a:solidFill>
                <a:latin typeface="Avenir Next"/>
                <a:ea typeface="Avenir Next"/>
                <a:cs typeface="Avenir Next"/>
              </a:defRPr>
            </a:pPr>
            <a:r>
              <a:rPr sz="675" b="1" i="0">
                <a:solidFill>
                  <a:srgbClr val="6F746E"/>
                </a:solidFill>
                <a:latin typeface="Avenir Next"/>
                <a:ea typeface="Avenir Next"/>
                <a:cs typeface="Avenir Next"/>
              </a:rPr>
              <a:t>BUILD ON ARC · FINAL SUBMISSION</a:t>
            </a:r>
          </a:p>
        </p:txBody>
      </p:sp>
    </p:spTree>
    <p:extLst>
      <p:ext uri="{BB962C8B-B14F-4D97-AF65-F5344CB8AC3E}">
        <p14:creationId xmlns:p14="http://schemas.microsoft.com/office/powerpoint/2010/main" val="11421345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721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378F04-39DF-4518-AFF6-D41EFCFC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0B2859-B8AE-439D-B3F2-09AD8F38A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209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75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defRPr>
            </a:pPr>
            <a:r>
              <a:rPr sz="675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rPr>
              <a:t>VP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71D5E3-BBD5-4B1E-BDD5-FFE81FEA5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6725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rPr>
              <a:t>VPorkPay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3A7C71-53CD-4F59-9386-9E3B26ADD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466725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AAB4AE"/>
                </a:solidFill>
                <a:latin typeface="Avenir Next"/>
                <a:ea typeface="Avenir Next"/>
                <a:cs typeface="Avenir Next"/>
              </a:defRPr>
            </a:pPr>
            <a:r>
              <a:rPr sz="900" b="1" i="0">
                <a:solidFill>
                  <a:srgbClr val="AAB4AE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F594C3-32F9-4E72-9CC1-478C3652D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457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E8B64B"/>
                </a:solidFill>
                <a:latin typeface="Avenir Next"/>
                <a:ea typeface="Avenir Next"/>
                <a:cs typeface="Avenir Next"/>
              </a:defRPr>
            </a:pPr>
            <a:r>
              <a:rPr sz="825" b="1" i="0">
                <a:solidFill>
                  <a:srgbClr val="E8B64B"/>
                </a:solidFill>
                <a:latin typeface="Avenir Next"/>
                <a:ea typeface="Avenir Next"/>
                <a:cs typeface="Avenir Next"/>
              </a:rPr>
              <a:t>LIVE MVP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58A9E5-A4B5-4AE2-851B-C0808C1AD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7429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51"/>
          </a:bodyPr>
          <a:lstStyle xmlns:a="http://schemas.openxmlformats.org/drawingml/2006/main"/>
          <a:p xmlns:a="http://schemas.openxmlformats.org/drawingml/2006/main">
            <a:pPr algn="l">
              <a:defRPr sz="3300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defRPr>
            </a:pPr>
            <a:r>
              <a:rPr sz="3300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rPr>
              <a:t>The interface reads like a merchant ledger.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C33B7E-8D79-4729-B32F-08A6FE2CA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329565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24302B"/>
          </a:solidFill>
          <a:ln xmlns:a="http://schemas.openxmlformats.org/drawingml/2006/main" w="9525">
            <a:solidFill>
              <a:srgbClr val="3E4B4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D149C7-2C0F-4811-90AA-5A185A3B2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4650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E8B64B"/>
                </a:solidFill>
                <a:latin typeface="Avenir Next"/>
                <a:ea typeface="Avenir Next"/>
                <a:cs typeface="Avenir Next"/>
              </a:defRPr>
            </a:pPr>
            <a:r>
              <a:rPr sz="825" b="1" i="0">
                <a:solidFill>
                  <a:srgbClr val="E8B64B"/>
                </a:solidFill>
                <a:latin typeface="Avenir Next"/>
                <a:ea typeface="Avenir Next"/>
                <a:cs typeface="Avenir Next"/>
              </a:rPr>
              <a:t>MARKETPLACE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2265B0-07BF-4652-9D7F-5977C5765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76600"/>
            <a:ext cx="276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rPr>
              <a:t>Browse cuts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B67A3D-50C3-416D-A369-62743627A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00500"/>
            <a:ext cx="27241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C7D0CB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C7D0CB"/>
                </a:solidFill>
                <a:latin typeface="Avenir Next"/>
                <a:ea typeface="Avenir Next"/>
                <a:cs typeface="Avenir Next"/>
              </a:rPr>
              <a:t>Build a cart by kilogram and supplier.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F8DA6A-9C05-472F-800D-C54244FE7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647950"/>
            <a:ext cx="329565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D94B32"/>
          </a:solidFill>
          <a:ln xmlns:a="http://schemas.openxmlformats.org/drawingml/2006/main" w="9525">
            <a:solidFill>
              <a:srgbClr val="D94B3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CF4169-7B48-4693-B5AF-75D2BD1C6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914650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FFEDE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 i="0">
                <a:solidFill>
                  <a:srgbClr val="FFEDE8"/>
                </a:solidFill>
                <a:latin typeface="Avenir Next"/>
                <a:ea typeface="Avenir Next"/>
                <a:cs typeface="Avenir Next"/>
              </a:rPr>
              <a:t>MY ORDERS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D02E0B-4624-4829-8A97-F5CE1A4E4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276600"/>
            <a:ext cx="276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rPr>
              <a:t>See paid vs. owed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D72950-FB87-4587-92CB-2F9567ED6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00500"/>
            <a:ext cx="27241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FFEDE8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FFEDE8"/>
                </a:solidFill>
                <a:latin typeface="Avenir Next"/>
                <a:ea typeface="Avenir Next"/>
                <a:cs typeface="Avenir Next"/>
              </a:rPr>
              <a:t>Order time, payment mode, APR, accrued interest and due amount.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58239B-C016-468E-BAA7-A47FD22E4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647950"/>
            <a:ext cx="329565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24302B"/>
          </a:solidFill>
          <a:ln xmlns:a="http://schemas.openxmlformats.org/drawingml/2006/main" w="9525">
            <a:solidFill>
              <a:srgbClr val="3E4B4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A809BC-DD63-4566-B759-27CA3717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14650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E8B64B"/>
                </a:solidFill>
                <a:latin typeface="Avenir Next"/>
                <a:ea typeface="Avenir Next"/>
                <a:cs typeface="Avenir Next"/>
              </a:defRPr>
            </a:pPr>
            <a:r>
              <a:rPr sz="825" b="1" i="0">
                <a:solidFill>
                  <a:srgbClr val="E8B64B"/>
                </a:solidFill>
                <a:latin typeface="Avenir Next"/>
                <a:ea typeface="Avenir Next"/>
                <a:cs typeface="Avenir Next"/>
              </a:rPr>
              <a:t>SELLER HUB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7BBA9B-A2B7-4A85-B89E-FD474C5E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276600"/>
            <a:ext cx="276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rPr>
              <a:t>Operate credit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CD5FDE-F842-4BAB-BF30-E6A4BC18D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000500"/>
            <a:ext cx="27241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C7D0CB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C7D0CB"/>
                </a:solidFill>
                <a:latin typeface="Avenir Next"/>
                <a:ea typeface="Avenir Next"/>
                <a:cs typeface="Avenir Next"/>
              </a:rPr>
              <a:t>Only approved seller wallets see fulfilment and debt actions.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DC5CF1-0C14-4F98-92A7-6AB050F2D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FFFDF8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FFFDF8"/>
                </a:solidFill>
                <a:latin typeface="Avenir Next"/>
                <a:ea typeface="Avenir Next"/>
                <a:cs typeface="Avenir Next"/>
              </a:rPr>
              <a:t>OPEN LIVE MVP  </a:t>
            </a:r>
            <a:r>
              <a:rPr sz="1050" b="1" u="sng">
                <a:solidFill>
                  <a:srgbClr val="FFFDF8"/>
                </a:solidFill>
                <a:latin typeface="Avenir Next"/>
                <a:ea typeface="Avenir Next"/>
                <a:cs typeface="Avenir Next"/>
                <a:hlinkClick xmlns:r="http://schemas.openxmlformats.org/officeDocument/2006/relationships" r:id="Re773a3068e334c35"/>
              </a:rPr>
              <a:t>https://vpork.xyz/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676B3A-0467-47D9-9E47-B594E7415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334000"/>
            <a:ext cx="1333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0C66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B5BB9F-6D51-487F-B866-2BD66B72F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53530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rPr>
              <a:t>SUPABASE SYNC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DB138B-C1CE-449C-8ACC-F97B2DB95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5334000"/>
            <a:ext cx="13716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5577C5-15F2-470C-8906-306C9FA7A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5353050"/>
            <a:ext cx="1181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defRPr>
            </a:pPr>
            <a:r>
              <a:rPr sz="825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rPr>
              <a:t>WALLET-OWNED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BE8B63-D107-4649-AE80-2308F21FB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666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AAB4AE"/>
                </a:solidFill>
                <a:latin typeface="Avenir Next"/>
                <a:ea typeface="Avenir Next"/>
                <a:cs typeface="Avenir Next"/>
              </a:defRPr>
            </a:pPr>
            <a:r>
              <a:rPr sz="675" b="1" i="0">
                <a:solidFill>
                  <a:srgbClr val="AAB4AE"/>
                </a:solidFill>
                <a:latin typeface="Avenir Next"/>
                <a:ea typeface="Avenir Next"/>
                <a:cs typeface="Avenir Next"/>
              </a:rPr>
              <a:t>Latest release · responsive web app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AD2162-04C8-4C76-AE7C-F450029CA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229350"/>
            <a:ext cx="3009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75" b="1" i="0">
                <a:solidFill>
                  <a:srgbClr val="AAB4AE"/>
                </a:solidFill>
                <a:latin typeface="Avenir Next"/>
                <a:ea typeface="Avenir Next"/>
                <a:cs typeface="Avenir Next"/>
              </a:defRPr>
            </a:pPr>
            <a:r>
              <a:rPr sz="675" b="1" i="0">
                <a:solidFill>
                  <a:srgbClr val="AAB4AE"/>
                </a:solidFill>
                <a:latin typeface="Avenir Next"/>
                <a:ea typeface="Avenir Next"/>
                <a:cs typeface="Avenir Next"/>
              </a:rPr>
              <a:t>BUILD ON ARC · FINAL SUBMISSION</a:t>
            </a:r>
          </a:p>
        </p:txBody>
      </p:sp>
    </p:spTree>
    <p:extLst>
      <p:ext uri="{BB962C8B-B14F-4D97-AF65-F5344CB8AC3E}">
        <p14:creationId xmlns:p14="http://schemas.microsoft.com/office/powerpoint/2010/main" val="28297057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ABA4DB2-FD80-41FD-AA73-55822743C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610A8A-BFC1-4964-830A-F4A5828C5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209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75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defRPr>
            </a:pPr>
            <a:r>
              <a:rPr sz="675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rPr>
              <a:t>VP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0D6E12-0552-4704-A1F9-E88FE49DE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6725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rPr>
              <a:t>VPorkPay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AD09DB-C663-431E-9A5E-F15A3F903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466725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6F746E"/>
                </a:solidFill>
                <a:latin typeface="Avenir Next"/>
                <a:ea typeface="Avenir Next"/>
                <a:cs typeface="Avenir Next"/>
              </a:defRPr>
            </a:pPr>
            <a:r>
              <a:rPr sz="900" b="1" i="0">
                <a:solidFill>
                  <a:srgbClr val="6F746E"/>
                </a:solidFill>
                <a:latin typeface="Avenir Next"/>
                <a:ea typeface="Avenir Next"/>
                <a:cs typeface="Avenir Next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5BFE8D-4805-4BAB-B777-84149E86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457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D94B32"/>
                </a:solidFill>
                <a:latin typeface="Avenir Next"/>
                <a:ea typeface="Avenir Next"/>
                <a:cs typeface="Avenir Next"/>
              </a:defRPr>
            </a:pPr>
            <a:r>
              <a:rPr sz="825" b="1" i="0">
                <a:solidFill>
                  <a:srgbClr val="D94B32"/>
                </a:solidFill>
                <a:latin typeface="Avenir Next"/>
                <a:ea typeface="Avenir Next"/>
                <a:cs typeface="Avenir Next"/>
              </a:rPr>
              <a:t>ONCHAIN PROOF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610AB5-B4EF-494D-9FF6-1EC0FFADE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8858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109"/>
          </a:bodyPr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defRPr>
            </a:pPr>
            <a:r>
              <a:rPr sz="3450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rPr>
              <a:t>VPorkPay v1.1 is deployed and source-verified on Arc.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39BC8F-4F52-4814-8513-8230E4BA3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33718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76943D-2848-4B63-B496-1B703079D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6F746E"/>
                </a:solidFill>
                <a:latin typeface="Avenir Next"/>
                <a:ea typeface="Avenir Next"/>
                <a:cs typeface="Avenir Next"/>
              </a:defRPr>
            </a:pPr>
            <a:r>
              <a:rPr sz="750" b="1" i="0">
                <a:solidFill>
                  <a:srgbClr val="6F746E"/>
                </a:solidFill>
                <a:latin typeface="Avenir Next"/>
                <a:ea typeface="Avenir Next"/>
                <a:cs typeface="Avenir Next"/>
              </a:rPr>
              <a:t>NETWORK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4D89E0-FFE5-4D39-A02A-CF19D48A0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86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0C665A"/>
                </a:solidFill>
                <a:latin typeface="Avenir Next"/>
                <a:ea typeface="Avenir Next"/>
                <a:cs typeface="Avenir Next"/>
              </a:defRPr>
            </a:pPr>
            <a:r>
              <a:rPr sz="2250" b="1" i="0">
                <a:solidFill>
                  <a:srgbClr val="0C665A"/>
                </a:solidFill>
                <a:latin typeface="Avenir Next"/>
                <a:ea typeface="Avenir Next"/>
                <a:cs typeface="Avenir Next"/>
              </a:rPr>
              <a:t>Arc Testnet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131908-80F4-441F-8F02-DD316198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62350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6F746E"/>
                </a:solidFill>
                <a:latin typeface="Avenir Next"/>
                <a:ea typeface="Avenir Next"/>
                <a:cs typeface="Avenir Next"/>
              </a:defRPr>
            </a:pPr>
            <a:r>
              <a:rPr sz="825" b="0" i="0">
                <a:solidFill>
                  <a:srgbClr val="6F746E"/>
                </a:solidFill>
                <a:latin typeface="Avenir Next"/>
                <a:ea typeface="Avenir Next"/>
                <a:cs typeface="Avenir Next"/>
              </a:rPr>
              <a:t>Chain ID 5042002 · USDC gas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C3A60E-F768-4917-ACEC-4CC89CFBE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686050"/>
            <a:ext cx="33718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2A95C8-F7A4-4B91-B51E-E8185B561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57500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6F746E"/>
                </a:solidFill>
                <a:latin typeface="Avenir Next"/>
                <a:ea typeface="Avenir Next"/>
                <a:cs typeface="Avenir Next"/>
              </a:defRPr>
            </a:pPr>
            <a:r>
              <a:rPr sz="750" b="1" i="0">
                <a:solidFill>
                  <a:srgbClr val="6F746E"/>
                </a:solidFill>
                <a:latin typeface="Avenir Next"/>
                <a:ea typeface="Avenir Next"/>
                <a:cs typeface="Avenir Next"/>
              </a:rPr>
              <a:t>CONTRACT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534948-8404-4162-B60B-5C351A545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86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D94B32"/>
                </a:solidFill>
                <a:latin typeface="Avenir Next"/>
                <a:ea typeface="Avenir Next"/>
                <a:cs typeface="Avenir Next"/>
              </a:defRPr>
            </a:pPr>
            <a:r>
              <a:rPr sz="2250" b="1" i="0">
                <a:solidFill>
                  <a:srgbClr val="D94B32"/>
                </a:solidFill>
                <a:latin typeface="Avenir Next"/>
                <a:ea typeface="Avenir Next"/>
                <a:cs typeface="Avenir Next"/>
              </a:rPr>
              <a:t>Source verified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3B5C4F-B9FF-4D12-8D00-47AD5065F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562350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6F746E"/>
                </a:solidFill>
                <a:latin typeface="Avenir Next"/>
                <a:ea typeface="Avenir Next"/>
                <a:cs typeface="Avenir Next"/>
              </a:defRPr>
            </a:pPr>
            <a:r>
              <a:rPr sz="825" b="0" i="0">
                <a:solidFill>
                  <a:srgbClr val="6F746E"/>
                </a:solidFill>
                <a:latin typeface="Avenir Next"/>
                <a:ea typeface="Avenir Next"/>
                <a:cs typeface="Avenir Next"/>
              </a:rPr>
              <a:t>Solidity 0.8.24 · optimizer 200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70305B-C564-414C-B682-90E63AEE2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686050"/>
            <a:ext cx="37719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482E80-EB4D-41BB-AB5F-06F1C075B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857500"/>
            <a:ext cx="335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6F746E"/>
                </a:solidFill>
                <a:latin typeface="Avenir Next"/>
                <a:ea typeface="Avenir Next"/>
                <a:cs typeface="Avenir Next"/>
              </a:defRPr>
            </a:pPr>
            <a:r>
              <a:rPr sz="750" b="1" i="0">
                <a:solidFill>
                  <a:srgbClr val="6F746E"/>
                </a:solidFill>
                <a:latin typeface="Avenir Next"/>
                <a:ea typeface="Avenir Next"/>
                <a:cs typeface="Avenir Next"/>
              </a:rPr>
              <a:t>MONEY LAYER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4E8AAD-2907-45AB-97AD-BB47D6FF3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086100"/>
            <a:ext cx="335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E8B64B"/>
                </a:solidFill>
                <a:latin typeface="Avenir Next"/>
                <a:ea typeface="Avenir Next"/>
                <a:cs typeface="Avenir Next"/>
              </a:defRPr>
            </a:pPr>
            <a:r>
              <a:rPr sz="2250" b="1" i="0">
                <a:solidFill>
                  <a:srgbClr val="E8B64B"/>
                </a:solidFill>
                <a:latin typeface="Avenir Next"/>
                <a:ea typeface="Avenir Next"/>
                <a:cs typeface="Avenir Next"/>
              </a:rPr>
              <a:t>USDC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1852CC-4141-4CAC-B202-C1996C8D4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562350"/>
            <a:ext cx="335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6F746E"/>
                </a:solidFill>
                <a:latin typeface="Avenir Next"/>
                <a:ea typeface="Avenir Next"/>
                <a:cs typeface="Avenir Next"/>
              </a:defRPr>
            </a:pPr>
            <a:r>
              <a:rPr sz="825" b="0" i="0">
                <a:solidFill>
                  <a:srgbClr val="6F746E"/>
                </a:solidFill>
                <a:latin typeface="Avenir Next"/>
                <a:ea typeface="Avenir Next"/>
                <a:cs typeface="Avenir Next"/>
              </a:rPr>
              <a:t>Official Arc Testnet token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17E343-A950-44C0-B626-A91A6F9CC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10972800" cy="131445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5FE97C-5DD3-4A7C-84E2-C06C144BD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624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6F746E"/>
                </a:solidFill>
                <a:latin typeface="Avenir Next"/>
                <a:ea typeface="Avenir Next"/>
                <a:cs typeface="Avenir Next"/>
              </a:defRPr>
            </a:pPr>
            <a:r>
              <a:rPr sz="750" b="1" i="0">
                <a:solidFill>
                  <a:srgbClr val="6F746E"/>
                </a:solidFill>
                <a:latin typeface="Avenir Next"/>
                <a:ea typeface="Avenir Next"/>
                <a:cs typeface="Avenir Next"/>
              </a:rPr>
              <a:t>DEPLOYMENT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457803-9A40-49E1-B9DC-E9A392F92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291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rPr>
              <a:t>0xd9dA…F396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A17AE8-F293-4DD6-B83F-5943964C2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101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7211D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u="sng">
                <a:solidFill>
                  <a:srgbClr val="17211D"/>
                </a:solidFill>
                <a:latin typeface="Avenir Next"/>
                <a:ea typeface="Avenir Next"/>
                <a:cs typeface="Avenir Next"/>
                <a:hlinkClick xmlns:r="http://schemas.openxmlformats.org/officeDocument/2006/relationships" r:id="R639ac84a0d634624"/>
              </a:rPr>
              <a:t>View verified contract and deployment transaction on Arcscan ↗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6C7F14-EE8A-421E-A3B0-951809CFC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3624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6F746E"/>
                </a:solidFill>
                <a:latin typeface="Avenir Next"/>
                <a:ea typeface="Avenir Next"/>
                <a:cs typeface="Avenir Next"/>
              </a:defRPr>
            </a:pPr>
            <a:r>
              <a:rPr sz="750" b="1" i="0">
                <a:solidFill>
                  <a:srgbClr val="6F746E"/>
                </a:solidFill>
                <a:latin typeface="Avenir Next"/>
                <a:ea typeface="Avenir Next"/>
                <a:cs typeface="Avenir Next"/>
              </a:rPr>
              <a:t>AUTHORITY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538993-A6EF-4589-A6CB-21B2FE11A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6482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rPr>
              <a:t>Merchant signs credit · Buyer signs repayment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F33DDC-480F-43C7-8A5C-34E0F61C2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9911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F746E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6F746E"/>
                </a:solidFill>
                <a:latin typeface="Avenir Next"/>
                <a:ea typeface="Avenir Next"/>
                <a:cs typeface="Avenir Next"/>
              </a:rPr>
              <a:t>The contract—not the browser—remains authoritative for principal, APR and amount due.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01B54D-38A0-4D06-9DB1-69BDB059B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666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6F746E"/>
                </a:solidFill>
                <a:latin typeface="Avenir Next"/>
                <a:ea typeface="Avenir Next"/>
                <a:cs typeface="Avenir Next"/>
              </a:defRPr>
            </a:pPr>
            <a:r>
              <a:rPr sz="675" b="1" i="0">
                <a:solidFill>
                  <a:srgbClr val="6F746E"/>
                </a:solidFill>
                <a:latin typeface="Avenir Next"/>
                <a:ea typeface="Avenir Next"/>
                <a:cs typeface="Avenir Next"/>
              </a:rPr>
              <a:t>Public evidence · independently inspectable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147D06-B884-4DC3-8B10-4CEF01E95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229350"/>
            <a:ext cx="3009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75" b="1" i="0">
                <a:solidFill>
                  <a:srgbClr val="6F746E"/>
                </a:solidFill>
                <a:latin typeface="Avenir Next"/>
                <a:ea typeface="Avenir Next"/>
                <a:cs typeface="Avenir Next"/>
              </a:defRPr>
            </a:pPr>
            <a:r>
              <a:rPr sz="675" b="1" i="0">
                <a:solidFill>
                  <a:srgbClr val="6F746E"/>
                </a:solidFill>
                <a:latin typeface="Avenir Next"/>
                <a:ea typeface="Avenir Next"/>
                <a:cs typeface="Avenir Next"/>
              </a:rPr>
              <a:t>BUILD ON ARC · FINAL SUBMISSION</a:t>
            </a:r>
          </a:p>
        </p:txBody>
      </p:sp>
    </p:spTree>
    <p:extLst>
      <p:ext uri="{BB962C8B-B14F-4D97-AF65-F5344CB8AC3E}">
        <p14:creationId xmlns:p14="http://schemas.microsoft.com/office/powerpoint/2010/main" val="16434783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D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BF4375-1725-4A9A-8633-99C6AE725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3A0F66-C28B-45A1-A440-F6C023091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209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75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defRPr>
            </a:pPr>
            <a:r>
              <a:rPr sz="675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rPr>
              <a:t>VP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41FCF2-E9E1-4AEB-BDF0-DADBCFF00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6725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rPr>
              <a:t>VPorkPay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BBB621-30F4-4A5B-BAFE-8CF804F4C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466725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6F746E"/>
                </a:solidFill>
                <a:latin typeface="Avenir Next"/>
                <a:ea typeface="Avenir Next"/>
                <a:cs typeface="Avenir Next"/>
              </a:defRPr>
            </a:pPr>
            <a:r>
              <a:rPr sz="900" b="1" i="0">
                <a:solidFill>
                  <a:srgbClr val="6F746E"/>
                </a:solidFill>
                <a:latin typeface="Avenir Next"/>
                <a:ea typeface="Avenir Next"/>
                <a:cs typeface="Avenir Next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4F1CC0-E2DD-404A-8510-7870090E5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457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D94B32"/>
                </a:solidFill>
                <a:latin typeface="Avenir Next"/>
                <a:ea typeface="Avenir Next"/>
                <a:cs typeface="Avenir Next"/>
              </a:defRPr>
            </a:pPr>
            <a:r>
              <a:rPr sz="825" b="1" i="0">
                <a:solidFill>
                  <a:srgbClr val="D94B32"/>
                </a:solidFill>
                <a:latin typeface="Avenir Next"/>
                <a:ea typeface="Avenir Next"/>
                <a:cs typeface="Avenir Next"/>
              </a:rPr>
              <a:t>CIRCLE STACK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FBBC78-0E78-4E90-8925-37C3593AA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8858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109"/>
          </a:bodyPr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defRPr>
            </a:pPr>
            <a:r>
              <a:rPr sz="3450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rPr>
              <a:t>Meaningful use, with implementation status visible.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230305-6154-4D9A-B281-A7A4F3B10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79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rPr>
              <a:t>ARC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2E92C0-00C0-4965-9997-E236F2C1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638425"/>
            <a:ext cx="742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0C66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0B2BB6-C341-4B1A-9D1D-20ED63639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657475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rPr>
              <a:t>LIVE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1B57B6-D9BD-4A79-9E78-BC69FFEEF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6289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F746E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6F746E"/>
                </a:solidFill>
                <a:latin typeface="Avenir Next"/>
                <a:ea typeface="Avenir Next"/>
                <a:cs typeface="Avenir Next"/>
              </a:rPr>
              <a:t>Settlement, contract execution and USDC-denominated gas on chain 5042002.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C1F0B0-D8FF-4B7D-B4E5-77F5840DD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54B84C-4716-4B61-ABA3-878EBF8B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909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rPr>
              <a:t>USDC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0B2FD2-64AB-4B5F-AD9E-15D3F7BDB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381375"/>
            <a:ext cx="742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0C66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D511D2-F96B-4A14-8A5C-43BF85B44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400425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rPr>
              <a:t>LIVE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609075-D3C5-4378-8C10-E84D8A230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3718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F746E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6F746E"/>
                </a:solidFill>
                <a:latin typeface="Avenir Next"/>
                <a:ea typeface="Avenir Next"/>
                <a:cs typeface="Avenir Next"/>
              </a:rPr>
              <a:t>Direct order payment, contract repayment and official test token accounting.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2BB1AC-E92C-4F4C-BF84-74E928E08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3D43FD-ACD4-4086-8C20-F66954EC0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338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rPr>
              <a:t>APP KIT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C244D0-96DB-4837-9C6C-D02E7E488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124325"/>
            <a:ext cx="742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0C66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CE03B4-C020-431B-AA55-FFDBA0A33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143375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rPr>
              <a:t>LIVE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78C400-05C5-4DC5-94AC-A93026F24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1148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F746E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6F746E"/>
                </a:solidFill>
                <a:latin typeface="Avenir Next"/>
                <a:ea typeface="Avenir Next"/>
                <a:cs typeface="Avenir Next"/>
              </a:rPr>
              <a:t>Two-way CCTP bridge between Ethereum Sepolia and Arc Testnet in checkout.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1032F1-01DF-4CF5-A453-058513275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C1EFF1-2628-44CE-82E0-3A5BD65D3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768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rPr>
              <a:t>AGENT STACK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25B1BE-C17C-4930-B8A4-858A5AE57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867275"/>
            <a:ext cx="742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8B6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29A82C-7F44-4D87-A851-440C21B7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886325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defRPr>
            </a:pPr>
            <a:r>
              <a:rPr sz="825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rPr>
              <a:t>READY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542EB8-B719-4F0E-8D65-0BB27E62C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577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F746E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6F746E"/>
                </a:solidFill>
                <a:latin typeface="Avenir Next"/>
                <a:ea typeface="Avenir Next"/>
                <a:cs typeface="Avenir Next"/>
              </a:rPr>
              <a:t>Circle CLI procurement runner with merchant allowlist, order cap and human confirmation.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2BBC7C-6639-4DED-AFE9-56B400FB0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7211D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17211D"/>
                </a:solidFill>
                <a:latin typeface="Avenir Next"/>
                <a:ea typeface="Avenir Next"/>
                <a:cs typeface="Avenir Next"/>
              </a:rPr>
              <a:t>INSPECT IMPLEMENTATION  </a:t>
            </a:r>
            <a:r>
              <a:rPr sz="975" b="1" u="sng">
                <a:solidFill>
                  <a:srgbClr val="17211D"/>
                </a:solidFill>
                <a:latin typeface="Avenir Next"/>
                <a:ea typeface="Avenir Next"/>
                <a:cs typeface="Avenir Next"/>
                <a:hlinkClick xmlns:r="http://schemas.openxmlformats.org/officeDocument/2006/relationships" r:id="R1a65b75b2ac34dfd"/>
              </a:rPr>
              <a:t>github.com/vybao39-rgb/porkpay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4EF5C96-2946-4565-AB39-DD7E4B5BE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666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6F746E"/>
                </a:solidFill>
                <a:latin typeface="Avenir Next"/>
                <a:ea typeface="Avenir Next"/>
                <a:cs typeface="Avenir Next"/>
              </a:defRPr>
            </a:pPr>
            <a:r>
              <a:rPr sz="675" b="1" i="0">
                <a:solidFill>
                  <a:srgbClr val="6F746E"/>
                </a:solidFill>
                <a:latin typeface="Avenir Next"/>
                <a:ea typeface="Avenir Next"/>
                <a:cs typeface="Avenir Next"/>
              </a:rPr>
              <a:t>Status labels separate shipped flows from agent-ready code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E5E3BC-B2F3-4589-B8E4-FFD05D19C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229350"/>
            <a:ext cx="3009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75" b="1" i="0">
                <a:solidFill>
                  <a:srgbClr val="6F746E"/>
                </a:solidFill>
                <a:latin typeface="Avenir Next"/>
                <a:ea typeface="Avenir Next"/>
                <a:cs typeface="Avenir Next"/>
              </a:defRPr>
            </a:pPr>
            <a:r>
              <a:rPr sz="675" b="1" i="0">
                <a:solidFill>
                  <a:srgbClr val="6F746E"/>
                </a:solidFill>
                <a:latin typeface="Avenir Next"/>
                <a:ea typeface="Avenir Next"/>
                <a:cs typeface="Avenir Next"/>
              </a:rPr>
              <a:t>BUILD ON ARC · FINAL SUBMISSION</a:t>
            </a:r>
          </a:p>
        </p:txBody>
      </p:sp>
    </p:spTree>
    <p:extLst>
      <p:ext uri="{BB962C8B-B14F-4D97-AF65-F5344CB8AC3E}">
        <p14:creationId xmlns:p14="http://schemas.microsoft.com/office/powerpoint/2010/main" val="138358773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763DA4E-0F21-4A59-804D-8B957B7F7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4B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DEA890-A203-4CB7-A2F9-1F56B7C44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"/>
            <a:ext cx="209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75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defRPr>
            </a:pPr>
            <a:r>
              <a:rPr sz="675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rPr>
              <a:t>VP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439F93-4191-4DB7-B3DC-0D3BCD227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6725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rPr>
              <a:t>VPorkPay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C35381-8FBB-44F0-BFA2-317CDF7DE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466725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6F746E"/>
                </a:solidFill>
                <a:latin typeface="Avenir Next"/>
                <a:ea typeface="Avenir Next"/>
                <a:cs typeface="Avenir Next"/>
              </a:defRPr>
            </a:pPr>
            <a:r>
              <a:rPr sz="900" b="1" i="0">
                <a:solidFill>
                  <a:srgbClr val="6F746E"/>
                </a:solidFill>
                <a:latin typeface="Avenir Next"/>
                <a:ea typeface="Avenir Next"/>
                <a:cs typeface="Avenir Next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15F902-80F5-416E-A275-FC22E3BC2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457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D94B32"/>
                </a:solidFill>
                <a:latin typeface="Avenir Next"/>
                <a:ea typeface="Avenir Next"/>
                <a:cs typeface="Avenir Next"/>
              </a:defRPr>
            </a:pPr>
            <a:r>
              <a:rPr sz="825" b="1" i="0">
                <a:solidFill>
                  <a:srgbClr val="D94B32"/>
                </a:solidFill>
                <a:latin typeface="Avenir Next"/>
                <a:ea typeface="Avenir Next"/>
                <a:cs typeface="Avenir Next"/>
              </a:rPr>
              <a:t>TRUST BOUNDARIES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1CCB97-21AF-413F-860A-9ED32E998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8858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defRPr>
            </a:pPr>
            <a:r>
              <a:rPr sz="3450" b="1" i="0">
                <a:solidFill>
                  <a:srgbClr val="17211D"/>
                </a:solidFill>
                <a:latin typeface="Avenir Next"/>
                <a:ea typeface="Avenir Next"/>
                <a:cs typeface="Avenir Next"/>
              </a:rPr>
              <a:t>Every state has one accountable owner.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387E35-017A-4721-8A71-78C9B0BB4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19050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4F0EA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C89047-BEE3-400E-BDD2-F028ED632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432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0C665A"/>
                </a:solidFill>
                <a:latin typeface="Avenir Next"/>
                <a:ea typeface="Avenir Next"/>
                <a:cs typeface="Avenir Next"/>
              </a:defRPr>
            </a:pPr>
            <a:r>
              <a:rPr sz="825" b="1" i="0">
                <a:solidFill>
                  <a:srgbClr val="0C665A"/>
                </a:solidFill>
                <a:latin typeface="Avenir Next"/>
                <a:ea typeface="Avenir Next"/>
                <a:cs typeface="Avenir Next"/>
              </a:rPr>
              <a:t>BUYER WALLET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31106A-21E9-49FC-BCB7-742AE62E5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24250"/>
            <a:ext cx="1562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 i="0">
                <a:solidFill>
                  <a:srgbClr val="17211D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17211D"/>
                </a:solidFill>
                <a:latin typeface="Avenir Next"/>
                <a:ea typeface="Avenir Next"/>
                <a:cs typeface="Avenir Next"/>
              </a:rPr>
              <a:t>Signs payment, request and repayment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60E5A8-F050-4056-9998-28DDDBABC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590925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4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DEAB7B-ABCA-4736-9611-862500038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5337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74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63C752-D104-4ED7-8DAC-BD3338C78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533775"/>
            <a:ext cx="762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defRPr>
            </a:pPr>
            <a:r>
              <a:rPr sz="750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rPr>
              <a:t>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0440CF-8FFB-461D-A919-26AB88D8F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895600"/>
            <a:ext cx="19050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A88FB4-E1F3-4CFE-BDE1-9394FF283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432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0C665A"/>
                </a:solidFill>
                <a:latin typeface="Avenir Next"/>
                <a:ea typeface="Avenir Next"/>
                <a:cs typeface="Avenir Next"/>
              </a:defRPr>
            </a:pPr>
            <a:r>
              <a:rPr sz="825" b="1" i="0">
                <a:solidFill>
                  <a:srgbClr val="0C665A"/>
                </a:solidFill>
                <a:latin typeface="Avenir Next"/>
                <a:ea typeface="Avenir Next"/>
                <a:cs typeface="Avenir Next"/>
              </a:rPr>
              <a:t>VPORKPAY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D7A426-3BA8-41BD-BB89-B80918966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524250"/>
            <a:ext cx="1562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 i="0">
                <a:solidFill>
                  <a:srgbClr val="17211D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17211D"/>
                </a:solidFill>
                <a:latin typeface="Avenir Next"/>
                <a:ea typeface="Avenir Next"/>
                <a:cs typeface="Avenir Next"/>
              </a:rPr>
              <a:t>Builds order and reads wallet / contract state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E8F4F2-B790-4A34-93F3-049404020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590925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4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C9DC7C-6F35-45F3-8208-B78DFC6A7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5337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74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AC8E3F-E065-455F-B4AC-430EBDABC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3533775"/>
            <a:ext cx="762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defRPr>
            </a:pPr>
            <a:r>
              <a:rPr sz="750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rPr>
              <a:t>›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5F246D-FC65-4B92-BDD8-C66F4B9C3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895600"/>
            <a:ext cx="19050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0072C2-BAAD-44F6-8C35-E6B0F622F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1432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0C665A"/>
                </a:solidFill>
                <a:latin typeface="Avenir Next"/>
                <a:ea typeface="Avenir Next"/>
                <a:cs typeface="Avenir Next"/>
              </a:defRPr>
            </a:pPr>
            <a:r>
              <a:rPr sz="825" b="1" i="0">
                <a:solidFill>
                  <a:srgbClr val="0C665A"/>
                </a:solidFill>
                <a:latin typeface="Avenir Next"/>
                <a:ea typeface="Avenir Next"/>
                <a:cs typeface="Avenir Next"/>
              </a:rPr>
              <a:t>SUPABASE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01A98A-C34A-4DE9-868B-F2BF827C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524250"/>
            <a:ext cx="1562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 i="0">
                <a:solidFill>
                  <a:srgbClr val="17211D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17211D"/>
                </a:solidFill>
                <a:latin typeface="Avenir Next"/>
                <a:ea typeface="Avenir Next"/>
                <a:cs typeface="Avenir Next"/>
              </a:rPr>
              <a:t>Stores catalog, order and fulfilment records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0CFD09-0870-4E68-85AA-29A73CD68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590925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4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D80D21-782D-48E6-8B68-120D6CB14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5337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74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13DEB4-E1AC-4645-93F6-9C8D3A922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533775"/>
            <a:ext cx="762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defRPr>
            </a:pPr>
            <a:r>
              <a:rPr sz="750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rPr>
              <a:t>›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C6B320-C2E6-47CB-9CF8-6389C8B43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895600"/>
            <a:ext cx="19050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8E8AE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BBCC68-4CAC-4EE8-AA92-F9827D85D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1432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805B00"/>
                </a:solidFill>
                <a:latin typeface="Avenir Next"/>
                <a:ea typeface="Avenir Next"/>
                <a:cs typeface="Avenir Next"/>
              </a:defRPr>
            </a:pPr>
            <a:r>
              <a:rPr sz="825" b="1" i="0">
                <a:solidFill>
                  <a:srgbClr val="805B00"/>
                </a:solidFill>
                <a:latin typeface="Avenir Next"/>
                <a:ea typeface="Avenir Next"/>
                <a:cs typeface="Avenir Next"/>
              </a:rPr>
              <a:t>ARC CONTRACT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34935F-E42A-4AC9-BCF3-3D2E2889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24250"/>
            <a:ext cx="1562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 i="0">
                <a:solidFill>
                  <a:srgbClr val="17211D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17211D"/>
                </a:solidFill>
                <a:latin typeface="Avenir Next"/>
                <a:ea typeface="Avenir Next"/>
                <a:cs typeface="Avenir Next"/>
              </a:rPr>
              <a:t>Stores debt, APR and amount due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3FD653A-5954-416E-9259-3CA0B2398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590925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4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D582E79-4353-443F-B4A5-518AF9299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5337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74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B083116-C1BC-437F-853C-3E2EB8670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3533775"/>
            <a:ext cx="762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defRPr>
            </a:pPr>
            <a:r>
              <a:rPr sz="750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rPr>
              <a:t>›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880B19D-790E-4940-8828-7EE1BF0C9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895600"/>
            <a:ext cx="19050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7DAD3"/>
          </a:solidFill>
          <a:ln xmlns:a="http://schemas.openxmlformats.org/drawingml/2006/main" w="9525">
            <a:solidFill>
              <a:srgbClr val="D8D1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FEEF421-6194-4A48-8EDD-49F584419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1432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D94B32"/>
                </a:solidFill>
                <a:latin typeface="Avenir Next"/>
                <a:ea typeface="Avenir Next"/>
                <a:cs typeface="Avenir Next"/>
              </a:defRPr>
            </a:pPr>
            <a:r>
              <a:rPr sz="825" b="1" i="0">
                <a:solidFill>
                  <a:srgbClr val="D94B32"/>
                </a:solidFill>
                <a:latin typeface="Avenir Next"/>
                <a:ea typeface="Avenir Next"/>
                <a:cs typeface="Avenir Next"/>
              </a:rPr>
              <a:t>MERCHANT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09212D6-83EB-42EC-876F-B4E0018D9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524250"/>
            <a:ext cx="1562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 i="0">
                <a:solidFill>
                  <a:srgbClr val="17211D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17211D"/>
                </a:solidFill>
                <a:latin typeface="Avenir Next"/>
                <a:ea typeface="Avenir Next"/>
                <a:cs typeface="Avenir Next"/>
              </a:rPr>
              <a:t>Receives USDC and approves credit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BA70CCD-3B7F-4BEC-BEC4-1E888F156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3295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D94B32"/>
                </a:solidFill>
                <a:latin typeface="Avenir Next"/>
                <a:ea typeface="Avenir Next"/>
                <a:cs typeface="Avenir Next"/>
              </a:defRPr>
            </a:pPr>
            <a:r>
              <a:rPr sz="750" b="1" i="0">
                <a:solidFill>
                  <a:srgbClr val="D94B32"/>
                </a:solidFill>
                <a:latin typeface="Avenir Next"/>
                <a:ea typeface="Avenir Next"/>
                <a:cs typeface="Avenir Next"/>
              </a:rPr>
              <a:t>NO CUSTODIAL KEYS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63F56BA-BAD2-4B15-B503-D2F398391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9200"/>
            <a:ext cx="3295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F746E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6F746E"/>
                </a:solidFill>
                <a:latin typeface="Avenir Next"/>
                <a:ea typeface="Avenir Next"/>
                <a:cs typeface="Avenir Next"/>
              </a:rPr>
              <a:t>The app never stores seed phrases or private keys.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0AE746F-033B-4CAE-8049-914E7DFA6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762500"/>
            <a:ext cx="3295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D94B32"/>
                </a:solidFill>
                <a:latin typeface="Avenir Next"/>
                <a:ea typeface="Avenir Next"/>
                <a:cs typeface="Avenir Next"/>
              </a:defRPr>
            </a:pPr>
            <a:r>
              <a:rPr sz="750" b="1" i="0">
                <a:solidFill>
                  <a:srgbClr val="D94B32"/>
                </a:solidFill>
                <a:latin typeface="Avenir Next"/>
                <a:ea typeface="Avenir Next"/>
                <a:cs typeface="Avenir Next"/>
              </a:rPr>
              <a:t>NO SILENT CREDIT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5F397BC-B8EE-485E-9E47-433E42437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029200"/>
            <a:ext cx="3295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F746E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6F746E"/>
                </a:solidFill>
                <a:latin typeface="Avenir Next"/>
                <a:ea typeface="Avenir Next"/>
                <a:cs typeface="Avenir Next"/>
              </a:rPr>
              <a:t>Merchant approval is a signed Arc transaction.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5C027FA-D1D3-4ED0-B07A-3FFAD4811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62500"/>
            <a:ext cx="3295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D94B32"/>
                </a:solidFill>
                <a:latin typeface="Avenir Next"/>
                <a:ea typeface="Avenir Next"/>
                <a:cs typeface="Avenir Next"/>
              </a:defRPr>
            </a:pPr>
            <a:r>
              <a:rPr sz="750" b="1" i="0">
                <a:solidFill>
                  <a:srgbClr val="D94B32"/>
                </a:solidFill>
                <a:latin typeface="Avenir Next"/>
                <a:ea typeface="Avenir Next"/>
                <a:cs typeface="Avenir Next"/>
              </a:rPr>
              <a:t>NO HIDDEN BALANCE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814AE06-2374-4E3B-B00E-7E8FFE665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029200"/>
            <a:ext cx="3295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F746E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6F746E"/>
                </a:solidFill>
                <a:latin typeface="Avenir Next"/>
                <a:ea typeface="Avenir Next"/>
                <a:cs typeface="Avenir Next"/>
              </a:rPr>
              <a:t>Debt and repayment remain readable onchain.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09B1E9D-4145-4327-819B-00DCA980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666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6F746E"/>
                </a:solidFill>
                <a:latin typeface="Avenir Next"/>
                <a:ea typeface="Avenir Next"/>
                <a:cs typeface="Avenir Next"/>
              </a:defRPr>
            </a:pPr>
            <a:r>
              <a:rPr sz="675" b="1" i="0">
                <a:solidFill>
                  <a:srgbClr val="6F746E"/>
                </a:solidFill>
                <a:latin typeface="Avenir Next"/>
                <a:ea typeface="Avenir Next"/>
                <a:cs typeface="Avenir Next"/>
              </a:rPr>
              <a:t>Supabase for operations · Arc for money and debt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3AE498B-438F-4A20-A302-68BC87FDB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229350"/>
            <a:ext cx="3009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75" b="1" i="0">
                <a:solidFill>
                  <a:srgbClr val="6F746E"/>
                </a:solidFill>
                <a:latin typeface="Avenir Next"/>
                <a:ea typeface="Avenir Next"/>
                <a:cs typeface="Avenir Next"/>
              </a:defRPr>
            </a:pPr>
            <a:r>
              <a:rPr sz="675" b="1" i="0">
                <a:solidFill>
                  <a:srgbClr val="6F746E"/>
                </a:solidFill>
                <a:latin typeface="Avenir Next"/>
                <a:ea typeface="Avenir Next"/>
                <a:cs typeface="Avenir Next"/>
              </a:rPr>
              <a:t>BUILD ON ARC · FINAL SUBMISSION</a:t>
            </a:r>
          </a:p>
        </p:txBody>
      </p:sp>
    </p:spTree>
    <p:extLst>
      <p:ext uri="{BB962C8B-B14F-4D97-AF65-F5344CB8AC3E}">
        <p14:creationId xmlns:p14="http://schemas.microsoft.com/office/powerpoint/2010/main" val="56118526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D94B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BFED2D-4B12-46E6-8CAA-70F506395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0"/>
            <a:ext cx="4857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1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44AC99-4F23-4588-A1DC-E1082B35E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11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670CAD-F0C5-4C19-B616-D6140CCA1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5524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defRPr>
            </a:pPr>
            <a:r>
              <a:rPr sz="900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rPr>
              <a:t>VP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EEEDF5-03AC-43F6-9770-459516100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81025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FFECE6"/>
                </a:solidFill>
                <a:latin typeface="Avenir Next"/>
                <a:ea typeface="Avenir Next"/>
                <a:cs typeface="Avenir Next"/>
              </a:defRPr>
            </a:pPr>
            <a:r>
              <a:rPr sz="825" b="1" i="0">
                <a:solidFill>
                  <a:srgbClr val="FFECE6"/>
                </a:solidFill>
                <a:latin typeface="Avenir Next"/>
                <a:ea typeface="Avenir Next"/>
                <a:cs typeface="Avenir Next"/>
              </a:rPr>
              <a:t>FINAL SUBMISSION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854BD0-0538-49BF-9F46-44C89DCA9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9055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900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defRPr>
            </a:pPr>
            <a:r>
              <a:rPr sz="3900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rPr>
              <a:t>Pork trade,</a:t>
            </a:r>
          </a:p>
          <a:p xmlns:a="http://schemas.openxmlformats.org/drawingml/2006/main">
            <a:pPr algn="l">
              <a:defRPr sz="3900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defRPr>
            </a:pPr>
            <a:r>
              <a:rPr sz="3900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rPr>
              <a:t>financed on Arc.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E0A791-036F-4045-AB9D-7C1E8E93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71850"/>
            <a:ext cx="5619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FECE6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 i="0">
                <a:solidFill>
                  <a:srgbClr val="FFECE6"/>
                </a:solidFill>
                <a:latin typeface="Avenir Next"/>
                <a:ea typeface="Avenir Next"/>
                <a:cs typeface="Avenir Next"/>
              </a:rPr>
              <a:t>A functional MVP, public code, a 180-second demo and an editable final deck—released from one source of truth.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B8AB2E-6BB5-4C06-A65F-2542B25C2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16002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7211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CA5221-F2BA-4552-B259-84CCB6136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19650"/>
            <a:ext cx="1409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defRPr>
            </a:pPr>
            <a:r>
              <a:rPr sz="825" b="1" i="0">
                <a:solidFill>
                  <a:srgbClr val="FFFDF8"/>
                </a:solidFill>
                <a:latin typeface="Avenir Next"/>
                <a:ea typeface="Avenir Next"/>
                <a:cs typeface="Avenir Next"/>
              </a:rPr>
              <a:t>READY TO JUDGE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6BFAE8-E4A5-45DA-BBC3-056D3F85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52400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D94B32"/>
                </a:solidFill>
                <a:latin typeface="Avenir Next"/>
                <a:ea typeface="Avenir Next"/>
                <a:cs typeface="Avenir Next"/>
              </a:defRPr>
            </a:pPr>
            <a:r>
              <a:rPr sz="750" b="1" i="0">
                <a:solidFill>
                  <a:srgbClr val="D94B32"/>
                </a:solidFill>
                <a:latin typeface="Avenir Next"/>
                <a:ea typeface="Avenir Next"/>
                <a:cs typeface="Avenir Next"/>
              </a:rPr>
              <a:t>MVP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929567-2714-48AA-B6B4-39CC6015A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485900"/>
            <a:ext cx="2514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7211D"/>
                </a:solidFill>
                <a:latin typeface="Avenir Next"/>
                <a:ea typeface="Avenir Next"/>
                <a:cs typeface="Avenir Next"/>
              </a:defRPr>
            </a:pPr>
            <a:r>
              <a:rPr sz="900" b="1" u="sng">
                <a:solidFill>
                  <a:srgbClr val="17211D"/>
                </a:solidFill>
                <a:latin typeface="Avenir Next"/>
                <a:ea typeface="Avenir Next"/>
                <a:cs typeface="Avenir Next"/>
                <a:hlinkClick xmlns:r="http://schemas.openxmlformats.org/officeDocument/2006/relationships" r:id="R9a2334681dc14ec6"/>
              </a:rPr>
              <a:t>https://vpork.xyz/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6FC68B-62DA-4CD9-BB79-6777DB517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981200"/>
            <a:ext cx="331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39854E-E1A3-4CE9-80C0-82FFB8B9E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3050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D94B32"/>
                </a:solidFill>
                <a:latin typeface="Avenir Next"/>
                <a:ea typeface="Avenir Next"/>
                <a:cs typeface="Avenir Next"/>
              </a:defRPr>
            </a:pPr>
            <a:r>
              <a:rPr sz="750" b="1" i="0">
                <a:solidFill>
                  <a:srgbClr val="D94B32"/>
                </a:solidFill>
                <a:latin typeface="Avenir Next"/>
                <a:ea typeface="Avenir Next"/>
                <a:cs typeface="Avenir Next"/>
              </a:rPr>
              <a:t>CODE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E0C693-5676-4270-A8A2-897EB4BC8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266950"/>
            <a:ext cx="2514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7211D"/>
                </a:solidFill>
                <a:latin typeface="Avenir Next"/>
                <a:ea typeface="Avenir Next"/>
                <a:cs typeface="Avenir Next"/>
              </a:defRPr>
            </a:pPr>
            <a:r>
              <a:rPr sz="900" b="1" u="sng">
                <a:solidFill>
                  <a:srgbClr val="17211D"/>
                </a:solidFill>
                <a:latin typeface="Avenir Next"/>
                <a:ea typeface="Avenir Next"/>
                <a:cs typeface="Avenir Next"/>
                <a:hlinkClick xmlns:r="http://schemas.openxmlformats.org/officeDocument/2006/relationships" r:id="R1760d289fc37436c"/>
              </a:rPr>
              <a:t>https://github.com/vybao39-rgb/porkpay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5AF0AE-5C99-4EE5-94C1-2AF654EC3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762250"/>
            <a:ext cx="331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7EF7EE-9548-435C-8923-E99605489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8610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D94B32"/>
                </a:solidFill>
                <a:latin typeface="Avenir Next"/>
                <a:ea typeface="Avenir Next"/>
                <a:cs typeface="Avenir Next"/>
              </a:defRPr>
            </a:pPr>
            <a:r>
              <a:rPr sz="750" b="1" i="0">
                <a:solidFill>
                  <a:srgbClr val="D94B32"/>
                </a:solidFill>
                <a:latin typeface="Avenir Next"/>
                <a:ea typeface="Avenir Next"/>
                <a:cs typeface="Avenir Next"/>
              </a:rPr>
              <a:t>VIDEO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2FF551-4093-4875-A4C3-8EB583D2E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048000"/>
            <a:ext cx="2514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7211D"/>
                </a:solidFill>
                <a:latin typeface="Avenir Next"/>
                <a:ea typeface="Avenir Next"/>
                <a:cs typeface="Avenir Next"/>
              </a:defRPr>
            </a:pPr>
            <a:r>
              <a:rPr sz="900" b="1" u="sng">
                <a:solidFill>
                  <a:srgbClr val="17211D"/>
                </a:solidFill>
                <a:latin typeface="Avenir Next"/>
                <a:ea typeface="Avenir Next"/>
                <a:cs typeface="Avenir Next"/>
                <a:hlinkClick xmlns:r="http://schemas.openxmlformats.org/officeDocument/2006/relationships" r:id="R10a738bb4879448f"/>
              </a:rPr>
              <a:t>https://vpork.xyz/VPorkPay-Final-Demo.mp4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EF89D8-17E4-44ED-B1FF-D7DF1E917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43300"/>
            <a:ext cx="331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16B20D-CC17-4C89-AD9B-7B8E09311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867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D94B32"/>
                </a:solidFill>
                <a:latin typeface="Avenir Next"/>
                <a:ea typeface="Avenir Next"/>
                <a:cs typeface="Avenir Next"/>
              </a:defRPr>
            </a:pPr>
            <a:r>
              <a:rPr sz="750" b="1" i="0">
                <a:solidFill>
                  <a:srgbClr val="D94B32"/>
                </a:solidFill>
                <a:latin typeface="Avenir Next"/>
                <a:ea typeface="Avenir Next"/>
                <a:cs typeface="Avenir Next"/>
              </a:rPr>
              <a:t>DECK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A41291-24EE-43FB-885B-443A2D02A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829050"/>
            <a:ext cx="2514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7211D"/>
                </a:solidFill>
                <a:latin typeface="Avenir Next"/>
                <a:ea typeface="Avenir Next"/>
                <a:cs typeface="Avenir Next"/>
              </a:defRPr>
            </a:pPr>
            <a:r>
              <a:rPr sz="900" b="1" u="sng">
                <a:solidFill>
                  <a:srgbClr val="17211D"/>
                </a:solidFill>
                <a:latin typeface="Avenir Next"/>
                <a:ea typeface="Avenir Next"/>
                <a:cs typeface="Avenir Next"/>
                <a:hlinkClick xmlns:r="http://schemas.openxmlformats.org/officeDocument/2006/relationships" r:id="R52bc9928bfcf4bb3"/>
              </a:rPr>
              <a:t>https://vpork.xyz/VPorkPay-Final-Submission-Deck.pptx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B5B48F-CBF0-4429-8CA4-6312B872A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24350"/>
            <a:ext cx="331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5280EE-DFCC-4461-B660-EDC73F9C0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64820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 i="0">
                <a:solidFill>
                  <a:srgbClr val="D94B32"/>
                </a:solidFill>
                <a:latin typeface="Avenir Next"/>
                <a:ea typeface="Avenir Next"/>
                <a:cs typeface="Avenir Next"/>
              </a:defRPr>
            </a:pPr>
            <a:r>
              <a:rPr sz="750" b="1" i="0">
                <a:solidFill>
                  <a:srgbClr val="D94B32"/>
                </a:solidFill>
                <a:latin typeface="Avenir Next"/>
                <a:ea typeface="Avenir Next"/>
                <a:cs typeface="Avenir Next"/>
              </a:rPr>
              <a:t>HUB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A245B6-AD70-4C9C-8AFA-F980980F3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610100"/>
            <a:ext cx="2514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7211D"/>
                </a:solidFill>
                <a:latin typeface="Avenir Next"/>
                <a:ea typeface="Avenir Next"/>
                <a:cs typeface="Avenir Next"/>
              </a:defRPr>
            </a:pPr>
            <a:r>
              <a:rPr sz="900" b="1" u="sng">
                <a:solidFill>
                  <a:srgbClr val="17211D"/>
                </a:solidFill>
                <a:latin typeface="Avenir Next"/>
                <a:ea typeface="Avenir Next"/>
                <a:cs typeface="Avenir Next"/>
                <a:hlinkClick xmlns:r="http://schemas.openxmlformats.org/officeDocument/2006/relationships" r:id="R44052e605f834dbb"/>
              </a:rPr>
              <a:t>https://vpork.xyz/submission.html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97E84B9-B7CE-4C39-9564-2BD7F69DA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FFECE6"/>
                </a:solidFill>
                <a:latin typeface="Avenir Next"/>
                <a:ea typeface="Avenir Next"/>
                <a:cs typeface="Avenir Next"/>
              </a:defRPr>
            </a:pPr>
            <a:r>
              <a:rPr sz="675" b="1" i="0">
                <a:solidFill>
                  <a:srgbClr val="FFECE6"/>
                </a:solidFill>
                <a:latin typeface="Avenir Next"/>
                <a:ea typeface="Avenir Next"/>
                <a:cs typeface="Avenir Next"/>
              </a:rPr>
              <a:t>VPorkPay · August 2026</a:t>
            </a:r>
          </a:p>
        </p:txBody>
      </p:sp>
    </p:spTree>
    <p:extLst>
      <p:ext uri="{BB962C8B-B14F-4D97-AF65-F5344CB8AC3E}">
        <p14:creationId xmlns:p14="http://schemas.microsoft.com/office/powerpoint/2010/main" val="980635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2026-08-09T12:07:28.1690000Z</dcterms:created>
  <dcterms:modified xsi:type="dcterms:W3CDTF">2026-08-09T12:07:28.1690000Z</dcterms:modified>
</coreProperties>
</file>